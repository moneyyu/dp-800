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229" r:id="rId4"/>
  </p:sldMasterIdLst>
  <p:notesMasterIdLst>
    <p:notesMasterId r:id="rId15"/>
  </p:notesMasterIdLst>
  <p:handoutMasterIdLst>
    <p:handoutMasterId r:id="rId16"/>
  </p:handoutMasterIdLst>
  <p:sldIdLst>
    <p:sldId id="2147479557" r:id="rId5"/>
    <p:sldId id="2147479569" r:id="rId6"/>
    <p:sldId id="2147479572" r:id="rId7"/>
    <p:sldId id="2147479600" r:id="rId8"/>
    <p:sldId id="2147479651" r:id="rId9"/>
    <p:sldId id="2147479655" r:id="rId10"/>
    <p:sldId id="2147479648" r:id="rId11"/>
    <p:sldId id="2147479711" r:id="rId12"/>
    <p:sldId id="2147479713" r:id="rId13"/>
    <p:sldId id="2147479653" r:id="rId14"/>
  </p:sldIdLst>
  <p:sldSz cx="12192000" cy="6858000"/>
  <p:notesSz cx="6858000" cy="9144000"/>
  <p:custDataLst>
    <p:tags r:id="rId17"/>
  </p:custDataLst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200" userDrawn="1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pos="584" userDrawn="1">
          <p15:clr>
            <a:srgbClr val="A4A3A4"/>
          </p15:clr>
        </p15:guide>
        <p15:guide id="5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7FD0D05-1B6C-B9DD-05F5-5BAF8705D900}" name="Ron Sasaki" initials="RS" userId="S::rsasaki@microsoft.com::d50e61ca-c12c-4489-bcc9-f00936fa5f6e" providerId="AD"/>
  <p188:author id="{999BBDA0-6DD0-1FC2-4156-10230AF06B33}" name="heidi@mindseyepdx.com" initials="h" userId="S::heidi@mindseyepdx.com::a1bc4856-633f-4b84-8338-4fab10310c7a" providerId="AD"/>
  <p188:author id="{9CB991D4-F35D-B2EA-E886-7CDC3D8B147F}" name="Mindy Rosenthal (Strong Tower)" initials="" userId="S::v-rosenthalm@microsoft.com::5a09356b-afea-4c77-a06c-db6b0aca1814" providerId="AD"/>
  <p188:author id="{921C64E5-1F81-C6E8-CEAD-A3494BE238D0}" name="Marlena May" initials="MM" userId="S::marlenamay@microsoft.com::439cd84e-9246-4810-a1fa-66afa91d4c3f" providerId="AD"/>
  <p188:author id="{2D7C0DE9-CAB2-3D67-0CB7-665236291F0D}" name="Heidi Laverty" initials="HL" userId="7f49b1eb0f3d108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/>
  <p:cmAuthor id="3" name="Mary Feil-Jacobs" initials="MF" lastIdx="27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1F2C"/>
    <a:srgbClr val="264B7F"/>
    <a:srgbClr val="3FA8C8"/>
    <a:srgbClr val="FFFFFF"/>
    <a:srgbClr val="86A9DC"/>
    <a:srgbClr val="63B1E7"/>
    <a:srgbClr val="E8E6DF"/>
    <a:srgbClr val="0077D3"/>
    <a:srgbClr val="EEEEEE"/>
    <a:srgbClr val="E8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CECC81-F657-4AFB-DD6A-E7A829D60B96}" v="6" dt="2025-11-13T19:03:00.0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28" y="108"/>
      </p:cViewPr>
      <p:guideLst>
        <p:guide pos="4200"/>
        <p:guide orient="horz" pos="2160"/>
        <p:guide pos="5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gs" Target="tags/tag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emary Caperton" userId="S::rcaper@microsoft.com::285d28cd-9b25-4698-89b3-4c6bd80984c1" providerId="AD" clId="Web-{98CECC81-F657-4AFB-DD6A-E7A829D60B96}"/>
    <pc:docChg chg="addSld delSld modSection">
      <pc:chgData name="Rosemary Caperton" userId="S::rcaper@microsoft.com::285d28cd-9b25-4698-89b3-4c6bd80984c1" providerId="AD" clId="Web-{98CECC81-F657-4AFB-DD6A-E7A829D60B96}" dt="2025-11-13T19:03:00.059" v="5"/>
      <pc:docMkLst>
        <pc:docMk/>
      </pc:docMkLst>
      <pc:sldChg chg="del">
        <pc:chgData name="Rosemary Caperton" userId="S::rcaper@microsoft.com::285d28cd-9b25-4698-89b3-4c6bd80984c1" providerId="AD" clId="Web-{98CECC81-F657-4AFB-DD6A-E7A829D60B96}" dt="2025-11-13T19:03:00.059" v="5"/>
        <pc:sldMkLst>
          <pc:docMk/>
          <pc:sldMk cId="1734498451" sldId="2076138419"/>
        </pc:sldMkLst>
      </pc:sldChg>
      <pc:sldChg chg="del">
        <pc:chgData name="Rosemary Caperton" userId="S::rcaper@microsoft.com::285d28cd-9b25-4698-89b3-4c6bd80984c1" providerId="AD" clId="Web-{98CECC81-F657-4AFB-DD6A-E7A829D60B96}" dt="2025-11-13T19:03:00.043" v="4"/>
        <pc:sldMkLst>
          <pc:docMk/>
          <pc:sldMk cId="1096935855" sldId="2076138420"/>
        </pc:sldMkLst>
      </pc:sldChg>
      <pc:sldChg chg="del">
        <pc:chgData name="Rosemary Caperton" userId="S::rcaper@microsoft.com::285d28cd-9b25-4698-89b3-4c6bd80984c1" providerId="AD" clId="Web-{98CECC81-F657-4AFB-DD6A-E7A829D60B96}" dt="2025-11-13T19:03:00.028" v="3"/>
        <pc:sldMkLst>
          <pc:docMk/>
          <pc:sldMk cId="3067333247" sldId="2123258938"/>
        </pc:sldMkLst>
      </pc:sldChg>
      <pc:sldChg chg="add">
        <pc:chgData name="Rosemary Caperton" userId="S::rcaper@microsoft.com::285d28cd-9b25-4698-89b3-4c6bd80984c1" providerId="AD" clId="Web-{98CECC81-F657-4AFB-DD6A-E7A829D60B96}" dt="2025-11-13T19:02:51.824" v="0"/>
        <pc:sldMkLst>
          <pc:docMk/>
          <pc:sldMk cId="217790213" sldId="2147480927"/>
        </pc:sldMkLst>
      </pc:sldChg>
      <pc:sldChg chg="add">
        <pc:chgData name="Rosemary Caperton" userId="S::rcaper@microsoft.com::285d28cd-9b25-4698-89b3-4c6bd80984c1" providerId="AD" clId="Web-{98CECC81-F657-4AFB-DD6A-E7A829D60B96}" dt="2025-11-13T19:02:52.340" v="1"/>
        <pc:sldMkLst>
          <pc:docMk/>
          <pc:sldMk cId="4108628048" sldId="2147480928"/>
        </pc:sldMkLst>
      </pc:sldChg>
      <pc:sldChg chg="add">
        <pc:chgData name="Rosemary Caperton" userId="S::rcaper@microsoft.com::285d28cd-9b25-4698-89b3-4c6bd80984c1" providerId="AD" clId="Web-{98CECC81-F657-4AFB-DD6A-E7A829D60B96}" dt="2025-11-13T19:02:52.434" v="2"/>
        <pc:sldMkLst>
          <pc:docMk/>
          <pc:sldMk cId="810919639" sldId="214748092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F66B00-6144-45ED-BFDB-3936850BDA03}" type="datetime8">
              <a:rPr lang="en-US" smtClean="0">
                <a:latin typeface="Segoe UI" pitchFamily="34" charset="0"/>
              </a:rPr>
              <a:t>3/13/2026 5:31 AM</a:t>
            </a:fld>
            <a:endParaRPr lang="en-US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61486BA7-839C-4D2B-BD52-EF0BBA8433FD}" type="datetime8">
              <a:rPr lang="en-US" smtClean="0"/>
              <a:t>3/13/2026 5:31 AM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367" rtl="0" eaLnBrk="1" latinLnBrk="0" hangingPunct="1">
      <a:lnSpc>
        <a:spcPct val="90000"/>
      </a:lnSpc>
      <a:spcAft>
        <a:spcPts val="333"/>
      </a:spcAft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68AFE116-C913-47B9-A2FE-E7F4B9E58C38}" type="datetime8">
              <a:rPr lang="en-US" smtClean="0"/>
              <a:t>3/13/2026 5:31 AM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741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">
    <p:bg bwMode="gray"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S logo white - EMF" descr="Microsoft logo white text version">
            <a:extLst>
              <a:ext uri="{FF2B5EF4-FFF2-40B4-BE49-F238E27FC236}">
                <a16:creationId xmlns:a16="http://schemas.microsoft.com/office/drawing/2014/main" id="{7E11D7A2-B01C-A8A3-A191-67F185635D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pic>
        <p:nvPicPr>
          <p:cNvPr id="4" name="Picture 3" descr="Microsoft Learn&#10;Spark possibility">
            <a:extLst>
              <a:ext uri="{FF2B5EF4-FFF2-40B4-BE49-F238E27FC236}">
                <a16:creationId xmlns:a16="http://schemas.microsoft.com/office/drawing/2014/main" id="{92DBCEC2-8AE9-3782-893D-A626AAC4C12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rcRect/>
          <a:stretch/>
        </p:blipFill>
        <p:spPr>
          <a:xfrm>
            <a:off x="223228" y="2573202"/>
            <a:ext cx="5344642" cy="1681958"/>
          </a:xfrm>
          <a:prstGeom prst="rect">
            <a:avLst/>
          </a:prstGeom>
        </p:spPr>
      </p:pic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C271FB7A-72FC-2B10-878C-854A9CF5A5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/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347414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  <p15:guide id="8" orient="horz" pos="162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B334D90-2717-2269-E486-F1900244A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570008" y="0"/>
            <a:ext cx="12192000" cy="6858000"/>
          </a:xfrm>
          <a:prstGeom prst="rect">
            <a:avLst/>
          </a:prstGeom>
        </p:spPr>
      </p:pic>
      <p:pic>
        <p:nvPicPr>
          <p:cNvPr id="7" name="MS logo gray - EMF" descr="Microsoft logo, gray text version">
            <a:extLst>
              <a:ext uri="{FF2B5EF4-FFF2-40B4-BE49-F238E27FC236}">
                <a16:creationId xmlns:a16="http://schemas.microsoft.com/office/drawing/2014/main" id="{7B930E7F-5B91-31B0-B67D-DB8C41E881C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E21C31D-925C-53B5-2E40-C54FF245B4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912" y="3429000"/>
            <a:ext cx="5686955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5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</a:t>
            </a:r>
            <a:br>
              <a:rPr lang="en-US"/>
            </a:br>
            <a:r>
              <a:rPr lang="en-US"/>
              <a:t>presentation title 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DDA2A08-4E66-0E3E-D138-C376487FF5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56150" y="6446520"/>
            <a:ext cx="164592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44253EDB-56F0-1036-A65B-02ABC067A9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883381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D1096F-1307-5006-527D-D3AF4C75C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9824"/>
          <a:stretch/>
        </p:blipFill>
        <p:spPr>
          <a:xfrm>
            <a:off x="2417010" y="0"/>
            <a:ext cx="977499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2D19AFB-6939-2FBA-48C9-66A2961406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911" y="3384610"/>
            <a:ext cx="6345239" cy="615553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5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Section divider title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CF739926-D45E-64CA-0DB0-97104E14A5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6190285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450" userDrawn="1">
          <p15:clr>
            <a:srgbClr val="FBAE40"/>
          </p15:clr>
        </p15:guide>
        <p15:guide id="2" orient="horz" pos="264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1-colum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DAB8950-CE1F-05A6-2114-49B53E68C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5216" y="1289050"/>
            <a:ext cx="3182112" cy="0"/>
          </a:xfrm>
          <a:prstGeom prst="line">
            <a:avLst/>
          </a:prstGeom>
          <a:ln w="76200" cap="rnd">
            <a:gradFill>
              <a:gsLst>
                <a:gs pos="0">
                  <a:schemeClr val="accent3"/>
                </a:gs>
                <a:gs pos="97531">
                  <a:srgbClr val="8DC8E8"/>
                </a:gs>
                <a:gs pos="48000">
                  <a:schemeClr val="accent2"/>
                </a:gs>
                <a:gs pos="22000">
                  <a:srgbClr val="F4364C"/>
                </a:gs>
              </a:gsLst>
              <a:lin ang="3900000" scaled="0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B14116FB-E904-DC73-7B06-3E22452633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AC2502E-5D9F-F851-3464-EDB3AAD612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818177"/>
            <a:ext cx="5033361" cy="2807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41306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 userDrawn="1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12" userDrawn="1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2" userDrawn="1">
          <p15:clr>
            <a:srgbClr val="954F72"/>
          </p15:clr>
        </p15:guide>
        <p15:guide id="40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_2-colum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340DCC4-9FA9-09C4-BB96-6B9979AA2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5216" y="1289050"/>
            <a:ext cx="3182112" cy="0"/>
          </a:xfrm>
          <a:prstGeom prst="line">
            <a:avLst/>
          </a:prstGeom>
          <a:ln w="76200" cap="rnd">
            <a:gradFill>
              <a:gsLst>
                <a:gs pos="0">
                  <a:schemeClr val="accent3"/>
                </a:gs>
                <a:gs pos="97531">
                  <a:srgbClr val="8DC8E8"/>
                </a:gs>
                <a:gs pos="48000">
                  <a:schemeClr val="accent2"/>
                </a:gs>
                <a:gs pos="22000">
                  <a:srgbClr val="F4364C"/>
                </a:gs>
              </a:gsLst>
              <a:lin ang="3900000" scaled="0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400A7934-B6A5-1A91-FBCA-710DD07CE5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D82F77F-F413-CFB2-A490-42936771DAD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389" y="1818177"/>
            <a:ext cx="4719695" cy="2496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F9FBD2C-38D6-C1BF-620A-300B1F4C5CF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91338" y="1818177"/>
            <a:ext cx="4719695" cy="2496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97126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 userDrawn="1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12" userDrawn="1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2" userDrawn="1">
          <p15:clr>
            <a:srgbClr val="954F7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-BIo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AA94852-62BE-D975-5820-B3227B110B53}"/>
              </a:ext>
            </a:extLst>
          </p:cNvPr>
          <p:cNvSpPr/>
          <p:nvPr userDrawn="1"/>
        </p:nvSpPr>
        <p:spPr bwMode="auto">
          <a:xfrm>
            <a:off x="1" y="0"/>
            <a:ext cx="7036066" cy="6858000"/>
          </a:xfrm>
          <a:prstGeom prst="rect">
            <a:avLst/>
          </a:prstGeom>
          <a:solidFill>
            <a:srgbClr val="F4F3F5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5749038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63B5AFD-1A0C-9C6A-B579-7F4B7918234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ltGray">
          <a:xfrm>
            <a:off x="7554590" y="3833734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8B296A1-E2FF-6AD0-056E-6FFA0EA08B6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 bwMode="ltGray">
          <a:xfrm>
            <a:off x="10568728" y="3833734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8F4ACC-A223-94FA-AF57-8B62501B059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 bwMode="ltGray">
          <a:xfrm>
            <a:off x="9061659" y="3833734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8133D48-744E-F029-079E-2E16C280989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 bwMode="ltGray">
          <a:xfrm>
            <a:off x="7554590" y="5199190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09D3DDE-EAFB-B57D-9147-8827F7743E1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 bwMode="ltGray">
          <a:xfrm>
            <a:off x="10568728" y="5199190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FDB12BE-8B16-4DC3-C014-945C54E8CD7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 bwMode="ltGray">
          <a:xfrm>
            <a:off x="9061659" y="5199190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0375802-7BB3-7A20-1210-E5FEEE1A56F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8165231" y="457200"/>
            <a:ext cx="2849035" cy="2874212"/>
          </a:xfrm>
          <a:prstGeom prst="roundRect">
            <a:avLst>
              <a:gd name="adj" fmla="val 21738"/>
            </a:avLst>
          </a:prstGeom>
          <a:blipFill>
            <a:blip r:embed="rId2"/>
            <a:stretch>
              <a:fillRect/>
            </a:stretch>
          </a:blipFill>
          <a:effectLst>
            <a:outerShdw blurRad="314198" dist="111760" dir="8040000" algn="ctr" rotWithShape="0">
              <a:schemeClr val="tx1">
                <a:alpha val="22000"/>
              </a:schemeClr>
            </a:outerShdw>
          </a:effectLst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4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</a:t>
            </a:r>
            <a:br>
              <a:rPr lang="en-US"/>
            </a:br>
            <a:r>
              <a:rPr lang="en-US"/>
              <a:t>add your picture here</a:t>
            </a:r>
          </a:p>
        </p:txBody>
      </p:sp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D3ECBC57-006B-CB8F-1EDC-04C18F0D01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1969660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tendee-Intro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4710689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E84377F5-22E1-9D2A-A0FF-44C6FE95F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5" name="Picture Placeholder 8" descr="Remote attendees participating in a Microsoft Teams Room (MTR) meeting while people in the conference room are viewing attendees in Gallery View on the front of room monitors​. ">
            <a:extLst>
              <a:ext uri="{FF2B5EF4-FFF2-40B4-BE49-F238E27FC236}">
                <a16:creationId xmlns:a16="http://schemas.microsoft.com/office/drawing/2014/main" id="{52246ABC-CD2B-AD84-9C67-DFE64BEAE9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801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6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68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page_Big headline_Lear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361096-DA6C-ED52-FA05-5031C6CAB2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2E59AFC-909D-1098-D672-A384B97467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081" y="2448062"/>
            <a:ext cx="10430257" cy="1015663"/>
          </a:xfrm>
        </p:spPr>
        <p:txBody>
          <a:bodyPr anchor="b" anchorCtr="0"/>
          <a:lstStyle>
            <a:lvl1pPr>
              <a:defRPr sz="6600" spc="-100" baseline="0">
                <a:latin typeface="+mn-lt"/>
              </a:defRPr>
            </a:lvl1pPr>
          </a:lstStyle>
          <a:p>
            <a:r>
              <a:rPr lang="en-US"/>
              <a:t>Big headline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AE3F76B-93DD-2A11-C7C5-3051EECE97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278313"/>
            <a:ext cx="471268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77A8E4-EDF0-DDB3-8098-28D44E234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46410" y="4278313"/>
            <a:ext cx="3765954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A750801D-F318-C32F-F1A8-2EB08A5D12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940567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68" userDrawn="1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36" userDrawn="1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4" userDrawn="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347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5B49E74-D3F8-9BC9-0A3F-F524E6C5A4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1056"/>
            <a:ext cx="11013474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F16CAC6C-E57B-D312-6754-C68FA11C55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3735694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28" orient="horz" pos="4320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11011601" cy="707281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CA4E92E8-A50E-5AB4-8891-983AC58DB6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4199" y="1386766"/>
            <a:ext cx="1101160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47809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8189027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A790AA64-2857-089A-38D7-2F214254E9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4200" y="1594155"/>
            <a:ext cx="5364224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5AAAF14-6312-27D6-344A-FC49DD3F11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085764"/>
            <a:ext cx="5361973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4340E81D-820D-EB95-DECF-8E23BA57E5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8618332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28" orient="horz" pos="4320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3CBC165-170D-08C9-3B02-A3330AE9A5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1591056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7382E19E-C6C9-5DF7-1994-AFE74147518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1591056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74C53E4F-2958-0FC0-1745-B9DBECE7AE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6273439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8" userDrawn="1">
          <p15:clr>
            <a:srgbClr val="954F72"/>
          </p15:clr>
        </p15:guide>
        <p15:guide id="9" pos="2150">
          <p15:clr>
            <a:srgbClr val="954F72"/>
          </p15:clr>
        </p15:guide>
        <p15:guide id="10" pos="2544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88" userDrawn="1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Text_with Subhead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B99DE518-C598-A940-A59E-AD0A05432B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5219700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4E25ABE-71E1-BA48-6C8C-3837559349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085764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1B7E7F6E-4D9D-5F8C-A5F0-526CA973BE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20" y="1594155"/>
            <a:ext cx="5219700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7DAE155-2008-5357-51E8-E6B1FA7558C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2085764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0B703353-C9ED-0F6F-D7CB-28042BD053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16039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8">
          <p15:clr>
            <a:srgbClr val="954F72"/>
          </p15:clr>
        </p15:guide>
        <p15:guide id="9" pos="2150">
          <p15:clr>
            <a:srgbClr val="954F72"/>
          </p15:clr>
        </p15:guide>
        <p15:guide id="10" pos="2544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940B0D9-7832-B819-D230-4F210761A2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1591310"/>
            <a:ext cx="34791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0D492BA-29A5-F31A-7F93-39ADE3E5EDA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62862" y="1591310"/>
            <a:ext cx="34791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6EDCFC9-DB25-88C3-92DA-E2554C14A27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30190" y="1591310"/>
            <a:ext cx="34791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6EDDB5AC-BBCB-7CEB-9BCA-27715FCAD1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3351249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_Text_with Subhead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286000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2286000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52B45-289B-E4AF-9D79-08330599511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2286000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234811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4" userDrawn="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_Text_with Subheads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2407846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3099691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2407846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3099691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2407846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52B45-289B-E4AF-9D79-08330599511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3099691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444439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8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4" userDrawn="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609" userDrawn="1">
          <p15:clr>
            <a:srgbClr val="FBAE40"/>
          </p15:clr>
        </p15:guide>
        <p15:guide id="41" pos="2988" userDrawn="1">
          <p15:clr>
            <a:srgbClr val="FBAE40"/>
          </p15:clr>
        </p15:guide>
        <p15:guide id="42" pos="5352" userDrawn="1">
          <p15:clr>
            <a:srgbClr val="FBAE40"/>
          </p15:clr>
        </p15:guide>
        <p15:guide id="43" orient="horz" pos="1085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-column_Text_with Subheads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 descr="Microsoft Certification renewal process flow">
            <a:extLst>
              <a:ext uri="{FF2B5EF4-FFF2-40B4-BE49-F238E27FC236}">
                <a16:creationId xmlns:a16="http://schemas.microsoft.com/office/drawing/2014/main" id="{ED4FC5EF-0434-AB45-07F5-AAD2BF06D8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>
          <a:xfrm>
            <a:off x="1767" y="2042154"/>
            <a:ext cx="12175719" cy="0"/>
          </a:xfrm>
          <a:prstGeom prst="line">
            <a:avLst/>
          </a:prstGeom>
          <a:noFill/>
          <a:ln w="76200" cap="flat">
            <a:gradFill>
              <a:gsLst>
                <a:gs pos="0">
                  <a:srgbClr val="FF5C39"/>
                </a:gs>
                <a:gs pos="54796">
                  <a:srgbClr val="C73ECC"/>
                </a:gs>
                <a:gs pos="100000">
                  <a:srgbClr val="8DC8E8"/>
                </a:gs>
              </a:gsLst>
              <a:lin ang="21399750" scaled="1"/>
            </a:gradFill>
            <a:prstDash val="solid"/>
            <a:miter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52B45-289B-E4AF-9D79-08330599511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539241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92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1464" userDrawn="1">
          <p15:clr>
            <a:srgbClr val="954F72"/>
          </p15:clr>
        </p15:guide>
        <p15:guide id="16" pos="4344" userDrawn="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609" userDrawn="1">
          <p15:clr>
            <a:srgbClr val="FBAE40"/>
          </p15:clr>
        </p15:guide>
        <p15:guide id="41" pos="3840" userDrawn="1">
          <p15:clr>
            <a:srgbClr val="FBAE40"/>
          </p15:clr>
        </p15:guide>
        <p15:guide id="42" pos="6216" userDrawn="1">
          <p15:clr>
            <a:srgbClr val="FBAE40"/>
          </p15:clr>
        </p15:guide>
        <p15:guide id="43" orient="horz" pos="1284" userDrawn="1">
          <p15:clr>
            <a:srgbClr val="FBAE40"/>
          </p15:clr>
        </p15:guide>
        <p15:guide id="44" pos="3940" userDrawn="1">
          <p15:clr>
            <a:srgbClr val="FBAE40"/>
          </p15:clr>
        </p15:guide>
        <p15:guide id="45" orient="horz" pos="216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3-column_Text_with Subheads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 descr="Microsoft Certification renewal process flow">
            <a:extLst>
              <a:ext uri="{FF2B5EF4-FFF2-40B4-BE49-F238E27FC236}">
                <a16:creationId xmlns:a16="http://schemas.microsoft.com/office/drawing/2014/main" id="{ED4FC5EF-0434-AB45-07F5-AAD2BF06D8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>
          <a:xfrm>
            <a:off x="1767" y="2042154"/>
            <a:ext cx="12175719" cy="0"/>
          </a:xfrm>
          <a:prstGeom prst="line">
            <a:avLst/>
          </a:prstGeom>
          <a:noFill/>
          <a:ln w="76200" cap="flat">
            <a:gradFill>
              <a:gsLst>
                <a:gs pos="0">
                  <a:srgbClr val="FF5C39"/>
                </a:gs>
                <a:gs pos="54796">
                  <a:srgbClr val="C73ECC"/>
                </a:gs>
                <a:gs pos="100000">
                  <a:srgbClr val="8DC8E8"/>
                </a:gs>
              </a:gsLst>
              <a:lin ang="21399750" scaled="1"/>
            </a:gradFill>
            <a:prstDash val="solid"/>
            <a:miter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52B45-289B-E4AF-9D79-08330599511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503279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92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1464" userDrawn="1">
          <p15:clr>
            <a:srgbClr val="954F72"/>
          </p15:clr>
        </p15:guide>
        <p15:guide id="16" pos="4344" userDrawn="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609" userDrawn="1">
          <p15:clr>
            <a:srgbClr val="FBAE40"/>
          </p15:clr>
        </p15:guide>
        <p15:guide id="41" pos="3840" userDrawn="1">
          <p15:clr>
            <a:srgbClr val="FBAE40"/>
          </p15:clr>
        </p15:guide>
        <p15:guide id="42" pos="6216" userDrawn="1">
          <p15:clr>
            <a:srgbClr val="FBAE40"/>
          </p15:clr>
        </p15:guide>
        <p15:guide id="43" orient="horz" pos="1284" userDrawn="1">
          <p15:clr>
            <a:srgbClr val="FBAE40"/>
          </p15:clr>
        </p15:guide>
        <p15:guide id="44" pos="3940" userDrawn="1">
          <p15:clr>
            <a:srgbClr val="FBAE40"/>
          </p15:clr>
        </p15:guide>
        <p15:guide id="45" orient="horz" pos="216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3-column_Text_with Subheads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 descr="Microsoft Certification renewal process flow">
            <a:extLst>
              <a:ext uri="{FF2B5EF4-FFF2-40B4-BE49-F238E27FC236}">
                <a16:creationId xmlns:a16="http://schemas.microsoft.com/office/drawing/2014/main" id="{ED4FC5EF-0434-AB45-07F5-AAD2BF06D8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>
          <a:xfrm>
            <a:off x="1767" y="2042154"/>
            <a:ext cx="12175719" cy="0"/>
          </a:xfrm>
          <a:prstGeom prst="line">
            <a:avLst/>
          </a:prstGeom>
          <a:noFill/>
          <a:ln w="76200" cap="flat">
            <a:gradFill>
              <a:gsLst>
                <a:gs pos="0">
                  <a:srgbClr val="FF5C39"/>
                </a:gs>
                <a:gs pos="54796">
                  <a:srgbClr val="C73ECC"/>
                </a:gs>
                <a:gs pos="100000">
                  <a:srgbClr val="8DC8E8"/>
                </a:gs>
              </a:gsLst>
              <a:lin ang="21399750" scaled="1"/>
            </a:gradFill>
            <a:prstDash val="solid"/>
            <a:miter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44C1821-6346-D755-83F0-EC5D04C1AF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AE8BC1E6-3311-A73F-871A-923C49C012F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88C01D0-23FB-7438-A9BF-8E99080C98B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85712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92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1464" userDrawn="1">
          <p15:clr>
            <a:srgbClr val="954F72"/>
          </p15:clr>
        </p15:guide>
        <p15:guide id="16" pos="4344" userDrawn="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609" userDrawn="1">
          <p15:clr>
            <a:srgbClr val="FBAE40"/>
          </p15:clr>
        </p15:guide>
        <p15:guide id="41" pos="3840" userDrawn="1">
          <p15:clr>
            <a:srgbClr val="FBAE40"/>
          </p15:clr>
        </p15:guide>
        <p15:guide id="42" pos="6216" userDrawn="1">
          <p15:clr>
            <a:srgbClr val="FBAE40"/>
          </p15:clr>
        </p15:guide>
        <p15:guide id="43" orient="horz" pos="1284" userDrawn="1">
          <p15:clr>
            <a:srgbClr val="FBAE40"/>
          </p15:clr>
        </p15:guide>
        <p15:guide id="44" pos="3940" userDrawn="1">
          <p15:clr>
            <a:srgbClr val="FBAE40"/>
          </p15:clr>
        </p15:guide>
        <p15:guide id="45" orient="horz" pos="216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67F0464-FA9D-1DC7-827A-17DF799B90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978881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1FB34ED-A66E-89F2-95F6-C0038B49554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4978881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4F7E24-0716-000F-A23E-D45713ECDD7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1152766"/>
            <a:ext cx="12192000" cy="3444634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830DA7-1CDF-18F6-E151-AAB776959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BC534918-4E28-3067-DE75-AAF487EA48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835868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67F0464-FA9D-1DC7-827A-17DF799B90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978881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1FB34ED-A66E-89F2-95F6-C0038B49554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4978881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6FC6DD5-F717-45AB-C65A-E483E17C4FE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0"/>
            <a:ext cx="12192000" cy="45974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714A3419-0299-D6E2-EAEC-B759C421A7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444237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, subheads,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6F456F5C-E654-C0BD-30BA-55CC632F074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4956104"/>
            <a:ext cx="5364429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AE74A98-D9A9-7258-AB00-FA281DFC7D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5357443"/>
            <a:ext cx="536217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6A2D886A-4337-E9FA-7DBB-9D84D80A3A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3372" y="4956104"/>
            <a:ext cx="5356490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41A1665-88FA-58ED-F1C0-48840A180AC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52435" y="5357442"/>
            <a:ext cx="535759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1F55E03-DF85-0E93-780C-71A8898D2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6624839F-BBCE-45B6-246E-E8C737903DF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1152766"/>
            <a:ext cx="12192000" cy="3444634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A87FC08B-CC69-ED5E-1E89-0FB4958D4A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979816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 and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39E0A83-7ED9-6F5C-AEC4-5B98F5388F70}"/>
              </a:ext>
            </a:extLst>
          </p:cNvPr>
          <p:cNvSpPr/>
          <p:nvPr userDrawn="1"/>
        </p:nvSpPr>
        <p:spPr bwMode="auto">
          <a:xfrm>
            <a:off x="0" y="0"/>
            <a:ext cx="12192000" cy="4572000"/>
          </a:xfrm>
          <a:prstGeom prst="rect">
            <a:avLst/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6F456F5C-E654-C0BD-30BA-55CC632F074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4956104"/>
            <a:ext cx="5364429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AE74A98-D9A9-7258-AB00-FA281DFC7D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5357443"/>
            <a:ext cx="536217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6A2D886A-4337-E9FA-7DBB-9D84D80A3A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3372" y="4956104"/>
            <a:ext cx="5356490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41A1665-88FA-58ED-F1C0-48840A180AC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52435" y="5357442"/>
            <a:ext cx="535759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7ADEB9F-DC30-5B40-6D59-13194450FB0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0"/>
            <a:ext cx="12192000" cy="45720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0ADD2377-43F1-3C9F-D5EF-EBBBA2C54B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326113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_Text_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4710689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4ACB92EB-B163-EB38-0156-C028F872F1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4714663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0190326-CB8A-9A65-714A-07CD312C34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2085764"/>
            <a:ext cx="4712685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90DBB6-E167-EFBB-7028-79615839561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6096000" y="0"/>
            <a:ext cx="6096000" cy="6858000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E84377F5-22E1-9D2A-A0FF-44C6FE95F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939882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60" userDrawn="1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68" userDrawn="1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Text_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7248356" cy="307777"/>
          </a:xfrm>
        </p:spPr>
        <p:txBody>
          <a:bodyPr/>
          <a:lstStyle>
            <a:lvl1pPr>
              <a:defRPr sz="2000" b="0" i="0">
                <a:solidFill>
                  <a:srgbClr val="001F2D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085764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2085764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9B1DE51-5CDE-B96B-62FD-3A69CF69288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8128000" y="0"/>
            <a:ext cx="4064000" cy="6858000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59737277-FC4D-0B1F-1FD5-5CD35AF445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43907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6100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6" name="Rectangle: Single Corner Rounded 5">
            <a:extLst>
              <a:ext uri="{FF2B5EF4-FFF2-40B4-BE49-F238E27FC236}">
                <a16:creationId xmlns:a16="http://schemas.microsoft.com/office/drawing/2014/main" id="{A02CAEB8-26C8-4DCC-A205-1958858BB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" y="1913466"/>
            <a:ext cx="3121026" cy="4944533"/>
          </a:xfrm>
          <a:prstGeom prst="round1Rect">
            <a:avLst>
              <a:gd name="adj" fmla="val 6737"/>
            </a:avLst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5B1C1BF3-6AA8-9E3D-6C13-9D294A95EC9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6039" y="1926472"/>
            <a:ext cx="5364224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B36A2A5-3D3D-6672-23D6-32211E5333A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58229" y="2578100"/>
            <a:ext cx="5361973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4A355BE-EC00-02A7-CF83-86D8F4D79CE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88263" y="2542117"/>
            <a:ext cx="2027938" cy="49244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42517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Callout_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5E5F3DC3-1739-4680-A88C-C7B8F0E6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4000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07B0D1-31C1-C209-CE85-DD1D42B62A7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4064000" y="1292233"/>
            <a:ext cx="7535862" cy="3279768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B0CE4749-2B49-FDC6-1E4B-4745903086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064000" y="4830309"/>
            <a:ext cx="7535862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EC9D9DE-CE99-5608-0152-4E27F1BE003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073063" y="5231647"/>
            <a:ext cx="75268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id="{F30B2090-3FEF-BD7A-3D1A-F15263CED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" y="1292232"/>
            <a:ext cx="3121026" cy="5565768"/>
          </a:xfrm>
          <a:prstGeom prst="round1Rect">
            <a:avLst>
              <a:gd name="adj" fmla="val 6737"/>
            </a:avLst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69AA33E8-65E2-5482-066C-B301F74B3FC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88262" y="2210101"/>
            <a:ext cx="2113253" cy="49244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01984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>
          <p15:clr>
            <a:srgbClr val="954F72"/>
          </p15:clr>
        </p15:guide>
        <p15:guide id="6" pos="1372">
          <p15:clr>
            <a:srgbClr val="954F72"/>
          </p15:clr>
        </p15:guide>
        <p15:guide id="7" pos="1560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20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 Clickdow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E890A9B-98DE-E407-1677-225E1CB27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887" y="0"/>
            <a:ext cx="6891565" cy="6858000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960FA2C5-0F45-1F96-1312-4AD6040603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7958667" y="1348398"/>
            <a:ext cx="3793070" cy="4707465"/>
          </a:xfrm>
          <a:prstGeom prst="round2SameRect">
            <a:avLst>
              <a:gd name="adj1" fmla="val 2163"/>
              <a:gd name="adj2" fmla="val 0"/>
            </a:avLst>
          </a:prstGeom>
          <a:solidFill>
            <a:srgbClr val="E8E6DF"/>
          </a:solidFill>
          <a:ln w="6350">
            <a:noFill/>
          </a:ln>
          <a:effectLst>
            <a:outerShdw blurRad="127000" dist="76200" dir="9600000" algn="r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vert270" wrap="none" lIns="274320" tIns="0" rIns="27432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3000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858406-DE31-8249-0E02-6D12B1500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" r="15210"/>
          <a:stretch/>
        </p:blipFill>
        <p:spPr>
          <a:xfrm>
            <a:off x="7458887" y="1759165"/>
            <a:ext cx="4737876" cy="3870680"/>
          </a:xfrm>
          <a:prstGeom prst="rect">
            <a:avLst/>
          </a:prstGeom>
          <a:noFill/>
          <a:ln w="38100">
            <a:noFill/>
          </a:ln>
          <a:effectLst/>
        </p:spPr>
      </p:pic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402C46-D31C-FDEF-C231-716FBE6417F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7724775" y="2041526"/>
            <a:ext cx="4467225" cy="3311524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914400" tIns="0" rIns="914400" bIns="14630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website screenshot here or click or tap 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5F9DFC-8F86-66C5-68A6-019BCDEDB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5652201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5FD7D075-9E51-3CE8-5505-AE5C8CAB043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1594155"/>
            <a:ext cx="5654573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A9016-5747-B1D1-36DE-145A4E94C4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2085764"/>
            <a:ext cx="565220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481D8892-E962-43F0-5F5F-08F524F7EA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8424348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12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orient="horz" pos="3600">
          <p15:clr>
            <a:srgbClr val="FBAE40"/>
          </p15:clr>
        </p15:guide>
        <p15:guide id="32" orient="horz" pos="3408">
          <p15:clr>
            <a:srgbClr val="FBAE40"/>
          </p15:clr>
        </p15:guide>
        <p15:guide id="33" pos="10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with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8993557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with Head_Off-white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9689885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with Head_WmGray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2205983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contai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Rounded Rectangle 3_1">
            <a:extLst>
              <a:ext uri="{FF2B5EF4-FFF2-40B4-BE49-F238E27FC236}">
                <a16:creationId xmlns:a16="http://schemas.microsoft.com/office/drawing/2014/main" id="{E9B8C20E-B8A8-8B4B-E6D5-102814292B16}"/>
              </a:ext>
            </a:extLst>
          </p:cNvPr>
          <p:cNvSpPr/>
          <p:nvPr userDrawn="1"/>
        </p:nvSpPr>
        <p:spPr>
          <a:xfrm>
            <a:off x="588261" y="1292745"/>
            <a:ext cx="10074975" cy="4749970"/>
          </a:xfrm>
          <a:prstGeom prst="roundRect">
            <a:avLst>
              <a:gd name="adj" fmla="val 6113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8100000" sx="101000" sy="101000" algn="tr" rotWithShape="0">
              <a:srgbClr val="CAC5B8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E5A14A0B-79D6-45AE-7A4C-9DC7D8DBDE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35075" y="1771955"/>
            <a:ext cx="8778782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26E60A9-6B1B-0504-9AD9-98C3212D1B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37265" y="2263564"/>
            <a:ext cx="87750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3589038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nowledge Che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Rounded Rectangle 3_1">
            <a:extLst>
              <a:ext uri="{FF2B5EF4-FFF2-40B4-BE49-F238E27FC236}">
                <a16:creationId xmlns:a16="http://schemas.microsoft.com/office/drawing/2014/main" id="{E9B8C20E-B8A8-8B4B-E6D5-102814292B16}"/>
              </a:ext>
            </a:extLst>
          </p:cNvPr>
          <p:cNvSpPr/>
          <p:nvPr userDrawn="1"/>
        </p:nvSpPr>
        <p:spPr>
          <a:xfrm>
            <a:off x="588261" y="1292745"/>
            <a:ext cx="10074975" cy="4749970"/>
          </a:xfrm>
          <a:prstGeom prst="roundRect">
            <a:avLst>
              <a:gd name="adj" fmla="val 6113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8100000" sx="101000" sy="101000" algn="tr" rotWithShape="0">
              <a:srgbClr val="CAC5B8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E5A14A0B-79D6-45AE-7A4C-9DC7D8DBDE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35075" y="1594151"/>
            <a:ext cx="8778782" cy="39997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lang="en-US" sz="1400" kern="1200" spc="0" baseline="0" dirty="0" smtClean="0">
                <a:solidFill>
                  <a:schemeClr val="tx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26E60A9-6B1B-0504-9AD9-98C3212D1B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37265" y="1994124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AAEF9DE-7B32-1B2A-6337-669A0D5B5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107938" y="893763"/>
            <a:ext cx="1110600" cy="1110600"/>
            <a:chOff x="5540700" y="2116300"/>
            <a:chExt cx="1110600" cy="11106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F3C713F-0819-4E66-4E37-3D4AEBB16C45}"/>
                </a:ext>
              </a:extLst>
            </p:cNvPr>
            <p:cNvSpPr/>
            <p:nvPr/>
          </p:nvSpPr>
          <p:spPr>
            <a:xfrm>
              <a:off x="5540700" y="211630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6B6D0E4-ABDA-CFF0-8DBA-13CB318211E8}"/>
                </a:ext>
              </a:extLst>
            </p:cNvPr>
            <p:cNvPicPr/>
            <p:nvPr/>
          </p:nvPicPr>
          <p:blipFill>
            <a:blip r:embed="rId2"/>
            <a:srcRect/>
            <a:stretch/>
          </p:blipFill>
          <p:spPr>
            <a:xfrm>
              <a:off x="5749602" y="2325202"/>
              <a:ext cx="692796" cy="692796"/>
            </a:xfrm>
            <a:prstGeom prst="rect">
              <a:avLst/>
            </a:prstGeom>
            <a:noFill/>
          </p:spPr>
        </p:pic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A7BF95A-A491-AA6A-78B7-D238998E43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35075" y="4492432"/>
            <a:ext cx="8778782" cy="406322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C885C31-00F8-2C8C-ACC7-B0A21820E6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37265" y="4898755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801E9AC-93F9-F06B-9038-5F1AAD2E0D8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35075" y="3042690"/>
            <a:ext cx="8778782" cy="40632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lang="en-US" sz="1400" kern="1200" spc="0" baseline="0" dirty="0" smtClean="0">
                <a:solidFill>
                  <a:schemeClr val="tx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EC43E23-35AD-52A6-0DE8-366F8CC32F9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37265" y="3449013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84087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8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2" userDrawn="1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Path1_WmGray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796286D3-2BE2-274E-2C22-7C5E05965A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F318326-19BB-DD5B-81E3-D6586A45E4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" y="2827846"/>
            <a:ext cx="12192001" cy="30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51399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Path3_OffWhite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796286D3-2BE2-274E-2C22-7C5E05965A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C16E9B7-4924-90AE-8E65-159052FB5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" y="3144660"/>
            <a:ext cx="12192001" cy="30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2009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full page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A2F35014-FB65-ACD9-730E-E1D616E561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3"/>
              </a:gs>
            </a:gsLst>
            <a:lin ang="16200000" scaled="1"/>
            <a:tileRect/>
          </a:gradFill>
        </p:spPr>
        <p:txBody>
          <a:bodyPr vert="horz" wrap="square" lIns="585216" tIns="91440" rIns="0" bIns="45720" rtlCol="0">
            <a:spAutoFit/>
          </a:bodyPr>
          <a:lstStyle>
            <a:lvl1pPr marL="0" indent="0">
              <a:buNone/>
              <a:defRPr kumimoji="0" lang="en-US" sz="1999" b="0" i="0" u="none" strike="noStrike" cap="none" normalizeH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</a:defRPr>
            </a:lvl1pPr>
          </a:lstStyle>
          <a:p>
            <a:pPr marL="228600" lvl="0" indent="-228600"/>
            <a:r>
              <a:rPr lang="en-US"/>
              <a:t>Click to enter title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EC3CADB3-1E72-D613-A509-B863360A3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48551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42E0005-D466-9A2B-2F72-437D2E7450DA}"/>
              </a:ext>
            </a:extLst>
          </p:cNvPr>
          <p:cNvSpPr txBox="1">
            <a:spLocks/>
          </p:cNvSpPr>
          <p:nvPr userDrawn="1"/>
        </p:nvSpPr>
        <p:spPr>
          <a:xfrm>
            <a:off x="295276" y="770467"/>
            <a:ext cx="11604624" cy="5504921"/>
          </a:xfrm>
          <a:prstGeom prst="rect">
            <a:avLst/>
          </a:prstGeom>
          <a:solidFill>
            <a:srgbClr val="FFFFFF"/>
          </a:solidFill>
        </p:spPr>
        <p:txBody>
          <a:bodyPr vert="horz" lIns="274320" tIns="182880" rIns="182880" bIns="182880" rtlCol="0">
            <a:noAutofit/>
          </a:bodyPr>
          <a:lstStyle>
            <a:lvl1pPr marL="0" indent="0" algn="l" defTabSz="914132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120000"/>
              <a:buFontTx/>
              <a:buNone/>
              <a:defRPr lang="en-US" sz="1400" b="0" i="0" kern="1200">
                <a:solidFill>
                  <a:schemeClr val="tx1"/>
                </a:solidFill>
                <a:effectLst/>
                <a:latin typeface="Consolas" panose="020B0609020204030204" pitchFamily="49" charset="0"/>
                <a:ea typeface="Segoe UI Semibold" charset="0"/>
                <a:cs typeface="Segoe UI Semibold" charset="0"/>
              </a:defRPr>
            </a:lvl1pPr>
            <a:lvl2pPr marL="0" indent="0" algn="l" defTabSz="91413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Pct val="110000"/>
              <a:buFont typeface="Arial" charset="0"/>
              <a:buNone/>
              <a:defRPr lang="en-US" sz="2000" b="0" i="0" kern="1200" dirty="0" smtClean="0">
                <a:solidFill>
                  <a:schemeClr val="tx1"/>
                </a:solidFill>
                <a:effectLst/>
                <a:latin typeface="Segoe UI" charset="0"/>
                <a:ea typeface="Segoe UI" charset="0"/>
                <a:cs typeface="Segoe UI" charset="0"/>
              </a:defRPr>
            </a:lvl2pPr>
            <a:lvl3pPr marL="288925" indent="-222250" algn="l" defTabSz="91413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Pct val="120000"/>
              <a:buFont typeface="Arial" charset="0"/>
              <a:buChar char="•"/>
              <a:defRPr lang="en-US" sz="2000" b="0" i="0" kern="1200" dirty="0" smtClean="0">
                <a:solidFill>
                  <a:schemeClr val="tx1"/>
                </a:solidFill>
                <a:effectLst/>
                <a:latin typeface="Segoe UI" charset="0"/>
                <a:ea typeface="Segoe UI" charset="0"/>
                <a:cs typeface="Segoe UI" charset="0"/>
              </a:defRPr>
            </a:lvl3pPr>
            <a:lvl4pPr marL="631825" indent="-182880" algn="l" defTabSz="91413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Font typeface="Arial" charset="0"/>
              <a:buChar char="•"/>
              <a:tabLst/>
              <a:defRPr lang="en-US" sz="1800" b="0" i="0" kern="1200" dirty="0" smtClean="0">
                <a:solidFill>
                  <a:schemeClr val="tx1"/>
                </a:solidFill>
                <a:effectLst/>
                <a:latin typeface="Segoe UI" charset="0"/>
                <a:ea typeface="Segoe UI" charset="0"/>
                <a:cs typeface="Segoe UI" charset="0"/>
              </a:defRPr>
            </a:lvl4pPr>
            <a:lvl5pPr marL="1162685" indent="-194310" algn="l" defTabSz="914132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1"/>
              </a:buClr>
              <a:buFont typeface="Arial"/>
              <a:buChar char="•"/>
              <a:defRPr lang="en-US" sz="1600" b="0" i="0" kern="1200" dirty="0">
                <a:solidFill>
                  <a:schemeClr val="tx1"/>
                </a:solidFill>
                <a:effectLst/>
                <a:latin typeface="Segoe UI" charset="0"/>
                <a:ea typeface="Segoe UI" charset="0"/>
                <a:cs typeface="Segoe UI" charset="0"/>
              </a:defRPr>
            </a:lvl5pPr>
            <a:lvl6pPr marL="1873781" indent="-228533" algn="l" defTabSz="914132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26" indent="-228533" algn="l" defTabSz="9141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92" indent="-228533" algn="l" defTabSz="9141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57" indent="-228533" algn="l" defTabSz="9141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2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E9E9E9"/>
              </a:buClr>
              <a:buSzPct val="120000"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cs typeface="Segoe UI Semibold" charset="0"/>
            </a:endParaRPr>
          </a:p>
        </p:txBody>
      </p:sp>
      <p:sp>
        <p:nvSpPr>
          <p:cNvPr id="9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3EC8DAD9-3274-7DD3-8458-A6CF6E3661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9438" y="1083733"/>
            <a:ext cx="11020425" cy="4885267"/>
          </a:xfrm>
        </p:spPr>
        <p:txBody>
          <a:bodyPr/>
          <a:lstStyle>
            <a:lvl1pPr marL="0" indent="0">
              <a:buNone/>
              <a:tabLst/>
              <a:defRPr sz="1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1678480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2" orient="horz" pos="438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right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FD107E2-140D-CB86-9FA1-B9481E49E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4042761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7F5E94-C055-4558-A211-EF7933FCA8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4155"/>
            <a:ext cx="404276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A89B3FAE-417F-41EF-9D05-0D6CAF8EC7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582613"/>
            <a:ext cx="5799138" cy="5692775"/>
          </a:xfrm>
        </p:spPr>
        <p:txBody>
          <a:bodyPr/>
          <a:lstStyle>
            <a:lvl1pPr marL="0" indent="0">
              <a:buNone/>
              <a:tabLst/>
              <a:defRPr sz="1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2690523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ources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5B49E74-D3F8-9BC9-0A3F-F524E6C5A4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1056"/>
            <a:ext cx="8193024" cy="5416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  <a:latin typeface="+mj-lt"/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F055FC1-EF87-C5EC-9545-B346C73ACDA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6389" y="2081710"/>
            <a:ext cx="8193024" cy="11326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EBA1527-2F4C-29A6-6A08-4FBA5CAE4E7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6389" y="3587124"/>
            <a:ext cx="8193024" cy="5416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  <a:latin typeface="+mj-lt"/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B81DC28-90DC-14C9-6ED7-101D16E58FA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6389" y="4077778"/>
            <a:ext cx="8193024" cy="11326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0281408E-274B-89C6-8571-F986E6EE65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774148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28" orient="horz" pos="4320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_with Logo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S logo gray - EMF">
            <a:extLst>
              <a:ext uri="{FF2B5EF4-FFF2-40B4-BE49-F238E27FC236}">
                <a16:creationId xmlns:a16="http://schemas.microsoft.com/office/drawing/2014/main" id="{34855668-1A0A-E5EE-1D0F-97B30351BA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072CE3E-C99E-C188-A13F-A0815FF09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-612577"/>
            <a:ext cx="8193024" cy="307777"/>
          </a:xfrm>
        </p:spPr>
        <p:txBody>
          <a:bodyPr/>
          <a:lstStyle>
            <a:lvl1pPr>
              <a:defRPr sz="2000" b="0" i="0">
                <a:solidFill>
                  <a:srgbClr val="001F2D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Final slide with logo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3B2054C5-1258-8F24-CB3E-C0C7AA2945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6912588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losing slide_with Logo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S logo gray - EMF">
            <a:extLst>
              <a:ext uri="{FF2B5EF4-FFF2-40B4-BE49-F238E27FC236}">
                <a16:creationId xmlns:a16="http://schemas.microsoft.com/office/drawing/2014/main" id="{34855668-1A0A-E5EE-1D0F-97B30351BA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072CE3E-C99E-C188-A13F-A0815FF09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-616043"/>
            <a:ext cx="8193024" cy="307777"/>
          </a:xfrm>
        </p:spPr>
        <p:txBody>
          <a:bodyPr/>
          <a:lstStyle>
            <a:lvl1pPr>
              <a:defRPr sz="2000" b="0" i="0">
                <a:solidFill>
                  <a:srgbClr val="001F2D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Final slide with logo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D9E8228-6949-BCF9-F825-22D65A43DB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2080227"/>
            <a:ext cx="3361943" cy="553998"/>
          </a:xfrm>
          <a:noFill/>
        </p:spPr>
        <p:txBody>
          <a:bodyPr wrap="square" lIns="0" tIns="0" rIns="0" bIns="0">
            <a:sp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accent3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Thank you.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CDD9B65-7B9C-E803-654B-692D90202D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5640" y="2276475"/>
            <a:ext cx="7114222" cy="1689099"/>
          </a:xfrm>
        </p:spPr>
        <p:txBody>
          <a:bodyPr/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0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Segoe UI" panose="020B0502040204020203" pitchFamily="34" charset="0"/>
              </a:defRPr>
            </a:lvl1pPr>
            <a:lvl2pPr marL="155448" indent="0">
              <a:buNone/>
              <a:defRPr lang="en-US" sz="2000" b="0" kern="1200" cap="none" spc="-50" baseline="0" dirty="0" smtClean="0">
                <a:ln w="3175">
                  <a:noFill/>
                </a:ln>
                <a:solidFill>
                  <a:schemeClr val="bg1"/>
                </a:solidFill>
                <a:effectLst/>
                <a:latin typeface="+mn-lt"/>
                <a:ea typeface="+mn-ea"/>
                <a:cs typeface="Segoe UI" panose="020B0502040204020203" pitchFamily="34" charset="0"/>
              </a:defRPr>
            </a:lvl2pPr>
            <a:lvl3pPr marL="265176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3D724FF2-BFB6-0799-B9AE-F83BA9177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35951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592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earn Clickdow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B5AC9CC-CBA7-2165-37C5-00D2CAABA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887" y="0"/>
            <a:ext cx="6891565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5F9DFC-8F86-66C5-68A6-019BCDEDB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5863338" cy="37151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A94A1388-BD3C-450C-8D99-7C21AEFDA7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3472665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12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orient="horz" pos="3600">
          <p15:clr>
            <a:srgbClr val="FBAE40"/>
          </p15:clr>
        </p15:guide>
        <p15:guide id="32" orient="horz" pos="3408">
          <p15:clr>
            <a:srgbClr val="FBAE40"/>
          </p15:clr>
        </p15:guide>
        <p15:guide id="33" pos="108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_Learn-with Head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294CE2C-953A-10B8-F580-7F93E4F1234F}"/>
              </a:ext>
            </a:extLst>
          </p:cNvPr>
          <p:cNvGrpSpPr/>
          <p:nvPr userDrawn="1"/>
        </p:nvGrpSpPr>
        <p:grpSpPr>
          <a:xfrm>
            <a:off x="0" y="0"/>
            <a:ext cx="12192001" cy="1289051"/>
            <a:chOff x="0" y="0"/>
            <a:chExt cx="12192001" cy="128905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7080A99-448F-6067-0FC9-8A3F1093BB0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3125" b="79253"/>
            <a:stretch/>
          </p:blipFill>
          <p:spPr>
            <a:xfrm>
              <a:off x="0" y="1"/>
              <a:ext cx="12192001" cy="128905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2129612-B6F9-E264-C307-D22FBB0EACA2}"/>
                </a:ext>
              </a:extLst>
            </p:cNvPr>
            <p:cNvSpPr/>
            <p:nvPr userDrawn="1"/>
          </p:nvSpPr>
          <p:spPr bwMode="auto">
            <a:xfrm>
              <a:off x="7315200" y="0"/>
              <a:ext cx="1454150" cy="82550"/>
            </a:xfrm>
            <a:prstGeom prst="rect">
              <a:avLst/>
            </a:prstGeom>
            <a:solidFill>
              <a:srgbClr val="E8E6D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7246051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B6A3D4E9-A69B-36D6-0102-4B231B875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923169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36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85216"/>
            <a:ext cx="10430257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591056"/>
            <a:ext cx="10426700" cy="7263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5646CF9B-C3C6-BF79-10C9-634FDE6DDE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8842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0" r:id="rId1"/>
    <p:sldLayoutId id="2147484884" r:id="rId2"/>
    <p:sldLayoutId id="2147484845" r:id="rId3"/>
    <p:sldLayoutId id="2147484870" r:id="rId4"/>
    <p:sldLayoutId id="2147484872" r:id="rId5"/>
    <p:sldLayoutId id="2147484867" r:id="rId6"/>
    <p:sldLayoutId id="2147484908" r:id="rId7"/>
    <p:sldLayoutId id="2147484839" r:id="rId8"/>
    <p:sldLayoutId id="2147484742" r:id="rId9"/>
    <p:sldLayoutId id="2147484910" r:id="rId10"/>
    <p:sldLayoutId id="2147484817" r:id="rId11"/>
    <p:sldLayoutId id="2147484741" r:id="rId12"/>
    <p:sldLayoutId id="2147484807" r:id="rId13"/>
    <p:sldLayoutId id="2147484753" r:id="rId14"/>
    <p:sldLayoutId id="2147484808" r:id="rId15"/>
    <p:sldLayoutId id="2147484912" r:id="rId16"/>
    <p:sldLayoutId id="2147484914" r:id="rId17"/>
    <p:sldLayoutId id="2147484917" r:id="rId18"/>
    <p:sldLayoutId id="2147484915" r:id="rId19"/>
    <p:sldLayoutId id="2147484873" r:id="rId20"/>
    <p:sldLayoutId id="2147484886" r:id="rId21"/>
    <p:sldLayoutId id="2147484885" r:id="rId22"/>
    <p:sldLayoutId id="2147484874" r:id="rId23"/>
    <p:sldLayoutId id="2147484745" r:id="rId24"/>
    <p:sldLayoutId id="2147484743" r:id="rId25"/>
    <p:sldLayoutId id="2147484749" r:id="rId26"/>
    <p:sldLayoutId id="2147484875" r:id="rId27"/>
    <p:sldLayoutId id="2147484840" r:id="rId28"/>
    <p:sldLayoutId id="2147484887" r:id="rId29"/>
    <p:sldLayoutId id="2147484909" r:id="rId30"/>
    <p:sldLayoutId id="2147484907" r:id="rId31"/>
    <p:sldLayoutId id="2147484911" r:id="rId32"/>
    <p:sldLayoutId id="2147484899" r:id="rId33"/>
    <p:sldLayoutId id="2147484903" r:id="rId34"/>
    <p:sldLayoutId id="2147484905" r:id="rId35"/>
    <p:sldLayoutId id="2147484900" r:id="rId36"/>
    <p:sldLayoutId id="2147484906" r:id="rId37"/>
    <p:sldLayoutId id="2147484821" r:id="rId38"/>
    <p:sldLayoutId id="2147484728" r:id="rId39"/>
    <p:sldLayoutId id="2147484859" r:id="rId40"/>
    <p:sldLayoutId id="2147484918" r:id="rId41"/>
    <p:sldLayoutId id="2147484919" r:id="rId42"/>
  </p:sldLayoutIdLst>
  <p:transition>
    <p:fade/>
  </p:transition>
  <p:hf sldNum="0" hd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000" b="0" kern="1200" cap="none" spc="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137160" marR="0" indent="-13716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Arial" panose="020B0604020202020204" pitchFamily="34" charset="0"/>
        <a:buChar char="•"/>
        <a:tabLst/>
        <a:defRPr sz="16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265176" marR="0" indent="-109728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Arial" panose="020B0604020202020204" pitchFamily="34" charset="0"/>
        <a:buChar char="•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384048" marR="0" indent="-118872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Arial" panose="020B0604020202020204" pitchFamily="34" charset="0"/>
        <a:buChar char="•"/>
        <a:tabLst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A5A5A5"/>
          </p15:clr>
        </p15:guide>
        <p15:guide id="2" pos="7680" userDrawn="1">
          <p15:clr>
            <a:srgbClr val="A5A5A5"/>
          </p15:clr>
        </p15:guide>
        <p15:guide id="3" pos="186" userDrawn="1">
          <p15:clr>
            <a:srgbClr val="A5A5A5"/>
          </p15:clr>
        </p15:guide>
        <p15:guide id="26" pos="7496" userDrawn="1">
          <p15:clr>
            <a:srgbClr val="A5A5A5"/>
          </p15:clr>
        </p15:guide>
        <p15:guide id="27" orient="horz" userDrawn="1">
          <p15:clr>
            <a:srgbClr val="A5A5A5"/>
          </p15:clr>
        </p15:guide>
        <p15:guide id="28" orient="horz" pos="4320" userDrawn="1">
          <p15:clr>
            <a:srgbClr val="A5A5A5"/>
          </p15:clr>
        </p15:guide>
        <p15:guide id="29" orient="horz" pos="184" userDrawn="1">
          <p15:clr>
            <a:srgbClr val="A5A5A5"/>
          </p15:clr>
        </p15:guide>
        <p15:guide id="40" orient="horz" pos="4134" userDrawn="1">
          <p15:clr>
            <a:srgbClr val="A5A5A5"/>
          </p15:clr>
        </p15:guide>
        <p15:guide id="42" pos="365" userDrawn="1">
          <p15:clr>
            <a:srgbClr val="C35EA4"/>
          </p15:clr>
        </p15:guide>
        <p15:guide id="43" orient="horz" pos="367" userDrawn="1">
          <p15:clr>
            <a:srgbClr val="C35EA4"/>
          </p15:clr>
        </p15:guide>
        <p15:guide id="44" orient="horz" pos="3953" userDrawn="1">
          <p15:clr>
            <a:srgbClr val="C35EA4"/>
          </p15:clr>
        </p15:guide>
        <p15:guide id="45" pos="7307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30.xml"/><Relationship Id="rId1" Type="http://schemas.openxmlformats.org/officeDocument/2006/relationships/tags" Target="../tags/tag3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0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microsoft.com/users/lannateh-3810/collections/20qsoqj444gwd" TargetMode="External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hyperlink" Target="http://www.aka.ms/MyMicrosoftLearnProfile" TargetMode="External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15.jpeg"/><Relationship Id="rId5" Type="http://schemas.openxmlformats.org/officeDocument/2006/relationships/image" Target="../media/image9.png"/><Relationship Id="rId4" Type="http://schemas.openxmlformats.org/officeDocument/2006/relationships/hyperlink" Target="https://learn.microsoft.com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training/support/troubleshooting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1.xml"/><Relationship Id="rId4" Type="http://schemas.openxmlformats.org/officeDocument/2006/relationships/hyperlink" Target="https://learn.microsoft.com/en-us/contribute/content/provide-feedback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42.xml"/><Relationship Id="rId1" Type="http://schemas.openxmlformats.org/officeDocument/2006/relationships/tags" Target="../tags/tag5.xml"/><Relationship Id="rId6" Type="http://schemas.openxmlformats.org/officeDocument/2006/relationships/hyperlink" Target="https://home.pearsonvue.com/voc/2023-report" TargetMode="External"/><Relationship Id="rId5" Type="http://schemas.openxmlformats.org/officeDocument/2006/relationships/hyperlink" Target="https://aka.ms/RenewYourCert" TargetMode="External"/><Relationship Id="rId4" Type="http://schemas.openxmlformats.org/officeDocument/2006/relationships/hyperlink" Target="https://learn.microsoft.com/credentials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31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3E08FA2-C73F-A01D-C334-4FAC0DB0C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912" y="2813447"/>
            <a:ext cx="5686955" cy="1846659"/>
          </a:xfrm>
        </p:spPr>
        <p:txBody>
          <a:bodyPr/>
          <a:lstStyle/>
          <a:p>
            <a:r>
              <a:rPr lang="en-US" noProof="0" dirty="0">
                <a:cs typeface="Segoe UI"/>
              </a:rPr>
              <a:t>DP-800: Develop </a:t>
            </a:r>
            <a:br>
              <a:rPr lang="en-US" noProof="0" dirty="0">
                <a:cs typeface="Segoe UI"/>
              </a:rPr>
            </a:br>
            <a:r>
              <a:rPr lang="en-US" noProof="0" dirty="0">
                <a:cs typeface="Segoe UI"/>
              </a:rPr>
              <a:t>AI-enabled database solutions</a:t>
            </a:r>
            <a:endParaRPr lang="en-US" noProof="0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A2BF8BC-EDED-61C2-562F-15FB955AD7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n-US" noProof="0" dirty="0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C4740F1-B816-6BEC-8362-3B8D251DFC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56150" y="6446520"/>
            <a:ext cx="1645920" cy="153888"/>
          </a:xfrm>
        </p:spPr>
        <p:txBody>
          <a:bodyPr/>
          <a:lstStyle/>
          <a:p>
            <a:r>
              <a:rPr lang="en-US" noProof="0" dirty="0"/>
              <a:t>Date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60601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5B55108-207A-D9FF-AF4B-A304A5DEB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585788"/>
            <a:ext cx="5748337" cy="369332"/>
          </a:xfrm>
        </p:spPr>
        <p:txBody>
          <a:bodyPr/>
          <a:lstStyle/>
          <a:p>
            <a:r>
              <a:rPr lang="en-US" sz="2400" noProof="0" dirty="0"/>
              <a:t>Hello!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553B6DE-CBCC-D805-6A97-2E9248B43F2C}"/>
              </a:ext>
            </a:extLst>
          </p:cNvPr>
          <p:cNvSpPr txBox="1">
            <a:spLocks/>
          </p:cNvSpPr>
          <p:nvPr/>
        </p:nvSpPr>
        <p:spPr>
          <a:xfrm>
            <a:off x="588963" y="1085850"/>
            <a:ext cx="6302375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Thank you for joining me today</a:t>
            </a:r>
          </a:p>
        </p:txBody>
      </p:sp>
      <p:sp>
        <p:nvSpPr>
          <p:cNvPr id="8" name="Rounded Rectangle 3_1">
            <a:extLst>
              <a:ext uri="{FF2B5EF4-FFF2-40B4-BE49-F238E27FC236}">
                <a16:creationId xmlns:a16="http://schemas.microsoft.com/office/drawing/2014/main" id="{02A69FC5-E869-7938-B593-C7A42F844DCF}"/>
              </a:ext>
            </a:extLst>
          </p:cNvPr>
          <p:cNvSpPr/>
          <p:nvPr/>
        </p:nvSpPr>
        <p:spPr>
          <a:xfrm>
            <a:off x="584200" y="1871133"/>
            <a:ext cx="5969000" cy="3032449"/>
          </a:xfrm>
          <a:prstGeom prst="roundRect">
            <a:avLst>
              <a:gd name="adj" fmla="val 3632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marL="0" marR="0" lvl="0" indent="0" defTabSz="932742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Instructor: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&lt;Name&gt;</a:t>
            </a:r>
          </a:p>
          <a:p>
            <a:pPr marL="0" marR="0" lvl="0" indent="0" defTabSz="932742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&lt;Title or other credentials, e.g., Microsoft Certified Trainer&gt;</a:t>
            </a:r>
          </a:p>
          <a:p>
            <a:pPr marL="0" marR="0" lvl="0" indent="0" defTabSz="932742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&lt;Affiliation/Company&gt;</a:t>
            </a:r>
          </a:p>
          <a:p>
            <a:pPr marL="0" marR="0" lvl="0" indent="0" defTabSz="932742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&lt;A few words about my technical and professional experience&gt;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2AB5424-9D84-FAB9-4FA9-A13D7E3A190C}"/>
              </a:ext>
            </a:extLst>
          </p:cNvPr>
          <p:cNvSpPr txBox="1">
            <a:spLocks/>
          </p:cNvSpPr>
          <p:nvPr/>
        </p:nvSpPr>
        <p:spPr>
          <a:xfrm>
            <a:off x="927100" y="5161773"/>
            <a:ext cx="5314950" cy="811179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noProof="0" dirty="0"/>
              <a:t>twitter.com/[Name]</a:t>
            </a:r>
          </a:p>
          <a:p>
            <a:pPr marL="0" indent="0">
              <a:buNone/>
            </a:pPr>
            <a:r>
              <a:rPr lang="en-US" sz="1200" noProof="0" dirty="0"/>
              <a:t>linkedin.com/[Name]</a:t>
            </a:r>
          </a:p>
          <a:p>
            <a:pPr marL="0" indent="0">
              <a:buNone/>
            </a:pPr>
            <a:r>
              <a:rPr lang="en-US" sz="1200" noProof="0" dirty="0"/>
              <a:t>[</a:t>
            </a:r>
            <a:r>
              <a:rPr lang="en-US" sz="1200" noProof="0" dirty="0" err="1"/>
              <a:t>first.last</a:t>
            </a:r>
            <a:r>
              <a:rPr lang="en-US" sz="1200" noProof="0" dirty="0"/>
              <a:t>]@[email.com]</a:t>
            </a:r>
          </a:p>
          <a:p>
            <a:pPr marL="0" indent="0">
              <a:buNone/>
            </a:pPr>
            <a:r>
              <a:rPr lang="en-US" sz="1200" noProof="0" dirty="0"/>
              <a:t>Blog </a:t>
            </a:r>
          </a:p>
          <a:p>
            <a:pPr marL="0" indent="0">
              <a:buNone/>
            </a:pPr>
            <a:endParaRPr lang="en-US" sz="1200" noProof="0" dirty="0"/>
          </a:p>
        </p:txBody>
      </p:sp>
      <p:sp>
        <p:nvSpPr>
          <p:cNvPr id="14" name="Picture Placeholder 13" descr="Instructor image">
            <a:extLst>
              <a:ext uri="{FF2B5EF4-FFF2-40B4-BE49-F238E27FC236}">
                <a16:creationId xmlns:a16="http://schemas.microsoft.com/office/drawing/2014/main" id="{51EC8343-A368-A017-1348-13DC442E08C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32C35C5-B9CD-B676-7227-712C7E305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D2AF726-9685-6A2E-1457-0AD5F7CF8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B753862B-FC4F-2412-F837-F9D1DF1A0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BFE7F6BB-5DFF-B8FF-882B-C3E2A0792B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2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5CABB87-DAAF-A526-A471-745B2114F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EA04444-CE05-A52A-28B6-14B2DF4BF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4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22EB63-491C-85C2-F489-E7594D45B3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n-US" noProof="0" dirty="0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2" name="Flowchart: Off-page Connector 44">
            <a:extLst>
              <a:ext uri="{FF2B5EF4-FFF2-40B4-BE49-F238E27FC236}">
                <a16:creationId xmlns:a16="http://schemas.microsoft.com/office/drawing/2014/main" id="{1BAF25FE-7F5F-504D-B664-8B11FB8CE840}"/>
              </a:ext>
            </a:extLst>
          </p:cNvPr>
          <p:cNvSpPr/>
          <p:nvPr/>
        </p:nvSpPr>
        <p:spPr bwMode="auto">
          <a:xfrm rot="5400000">
            <a:off x="9473183" y="-558292"/>
            <a:ext cx="1865376" cy="3566160"/>
          </a:xfrm>
          <a:prstGeom prst="flowChartOffpageConnector">
            <a:avLst/>
          </a:prstGeom>
          <a:solidFill>
            <a:srgbClr val="091F2C"/>
          </a:solidFill>
          <a:ln>
            <a:noFill/>
            <a:headEnd type="none" w="med" len="med"/>
            <a:tailEnd type="none" w="med" len="med"/>
          </a:ln>
          <a:effectLst>
            <a:outerShdw blurRad="317500" algn="ctr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274320" tIns="585216" rIns="27432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ts val="600"/>
              </a:spcAft>
            </a:pPr>
            <a:r>
              <a:rPr lang="en-US" sz="1500" b="1" noProof="0" dirty="0">
                <a:solidFill>
                  <a:schemeClr val="bg1"/>
                </a:solidFill>
                <a:latin typeface="+mj-lt"/>
                <a:ea typeface="Segoe UI" pitchFamily="34" charset="0"/>
                <a:cs typeface="Segoe UI" pitchFamily="34" charset="0"/>
              </a:rPr>
              <a:t>Trainers: </a:t>
            </a:r>
            <a:endParaRPr lang="en-US" sz="1100" b="1" noProof="0" dirty="0">
              <a:solidFill>
                <a:schemeClr val="bg1"/>
              </a:solidFill>
              <a:latin typeface="+mj-lt"/>
              <a:ea typeface="Segoe UI" pitchFamily="34" charset="0"/>
              <a:cs typeface="Segoe UI" pitchFamily="34" charset="0"/>
            </a:endParaRPr>
          </a:p>
          <a:p>
            <a:pPr marL="0" marR="0" lvl="0" indent="0" defTabSz="932472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rPr>
              <a:t>Customize this content with your information, image, and background.</a:t>
            </a:r>
            <a:endParaRPr lang="en-US" sz="1100" kern="0" noProof="0" dirty="0">
              <a:solidFill>
                <a:schemeClr val="bg1"/>
              </a:solidFill>
              <a:latin typeface="Segoe UI"/>
              <a:ea typeface="Segoe UI" pitchFamily="34" charset="0"/>
              <a:cs typeface="Segoe UI" pitchFamily="34" charset="0"/>
            </a:endParaRPr>
          </a:p>
          <a:p>
            <a:pPr marL="0" marR="0" lvl="0" indent="0" defTabSz="932472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rPr>
              <a:t>Delete this note before presenting to your Learners.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403722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D4226-15FB-8407-4AAF-26919D886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noProof="0" dirty="0"/>
              <a:t>Let’s get to know </a:t>
            </a:r>
            <a:br>
              <a:rPr lang="en-US" sz="2400" noProof="0" dirty="0"/>
            </a:br>
            <a:r>
              <a:rPr lang="en-US" sz="2400" noProof="0" dirty="0"/>
              <a:t>each other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147394-57D0-11C7-6AE6-6A34F23589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n-US" noProof="0" dirty="0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Rounded Rectangle 3_1">
            <a:extLst>
              <a:ext uri="{FF2B5EF4-FFF2-40B4-BE49-F238E27FC236}">
                <a16:creationId xmlns:a16="http://schemas.microsoft.com/office/drawing/2014/main" id="{EE7DBE02-710B-EABC-6AFC-4BC12CF16267}"/>
              </a:ext>
            </a:extLst>
          </p:cNvPr>
          <p:cNvSpPr/>
          <p:nvPr/>
        </p:nvSpPr>
        <p:spPr>
          <a:xfrm>
            <a:off x="584200" y="2048933"/>
            <a:ext cx="4910667" cy="3888317"/>
          </a:xfrm>
          <a:prstGeom prst="roundRect">
            <a:avLst>
              <a:gd name="adj" fmla="val 3632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Your name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Company affiliation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Title/function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Your experience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Your expectations </a:t>
            </a:r>
            <a:b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for the course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" name="Flowchart: Off-page Connector 44">
            <a:extLst>
              <a:ext uri="{FF2B5EF4-FFF2-40B4-BE49-F238E27FC236}">
                <a16:creationId xmlns:a16="http://schemas.microsoft.com/office/drawing/2014/main" id="{FC617302-2B8E-7B72-190B-C1FDA702B6C0}"/>
              </a:ext>
            </a:extLst>
          </p:cNvPr>
          <p:cNvSpPr/>
          <p:nvPr/>
        </p:nvSpPr>
        <p:spPr bwMode="auto">
          <a:xfrm rot="5400000">
            <a:off x="9473183" y="-558292"/>
            <a:ext cx="1865376" cy="3566160"/>
          </a:xfrm>
          <a:prstGeom prst="flowChartOffpageConnector">
            <a:avLst/>
          </a:prstGeom>
          <a:solidFill>
            <a:srgbClr val="091F2C"/>
          </a:solidFill>
          <a:ln>
            <a:noFill/>
            <a:headEnd type="none" w="med" len="med"/>
            <a:tailEnd type="none" w="med" len="med"/>
          </a:ln>
          <a:effectLst>
            <a:outerShdw blurRad="317500" algn="ctr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274320" tIns="585216" rIns="27432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ts val="600"/>
              </a:spcAft>
            </a:pPr>
            <a:r>
              <a:rPr lang="en-US" sz="1500" b="1" noProof="0" dirty="0">
                <a:solidFill>
                  <a:schemeClr val="bg1"/>
                </a:solidFill>
                <a:latin typeface="+mj-lt"/>
                <a:ea typeface="Segoe UI" pitchFamily="34" charset="0"/>
                <a:cs typeface="Segoe UI" pitchFamily="34" charset="0"/>
              </a:rPr>
              <a:t>Trainers: </a:t>
            </a:r>
            <a:endParaRPr lang="en-US" sz="1100" b="1" noProof="0" dirty="0">
              <a:solidFill>
                <a:schemeClr val="bg1"/>
              </a:solidFill>
              <a:latin typeface="+mj-lt"/>
              <a:ea typeface="Segoe UI" pitchFamily="34" charset="0"/>
              <a:cs typeface="Segoe UI" pitchFamily="34" charset="0"/>
            </a:endParaRPr>
          </a:p>
          <a:p>
            <a:pPr marL="0" marR="0" lvl="0" indent="0" defTabSz="932472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rPr>
              <a:t>Customize this content with your information</a:t>
            </a:r>
            <a:r>
              <a:rPr lang="en-US" sz="1100" kern="0" noProof="0" dirty="0">
                <a:solidFill>
                  <a:schemeClr val="bg1"/>
                </a:solidFill>
                <a:latin typeface="Segoe UI"/>
                <a:ea typeface="Segoe UI" pitchFamily="34" charset="0"/>
                <a:cs typeface="Segoe UI" pitchFamily="34" charset="0"/>
              </a:rPr>
              <a:t> 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rPr>
              <a:t>and background. </a:t>
            </a:r>
          </a:p>
          <a:p>
            <a:pPr marL="0" marR="0" lvl="0" indent="0" defTabSz="932472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US" sz="1100" kern="0" noProof="0" dirty="0">
              <a:solidFill>
                <a:schemeClr val="bg1"/>
              </a:solidFill>
              <a:latin typeface="Segoe UI"/>
              <a:ea typeface="Segoe UI" pitchFamily="34" charset="0"/>
              <a:cs typeface="Segoe UI" pitchFamily="34" charset="0"/>
            </a:endParaRPr>
          </a:p>
          <a:p>
            <a:pPr marL="0" marR="0" lvl="0" indent="0" defTabSz="932472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rPr>
              <a:t>Delete this note before presenting to your Learners.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1565363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33">
            <a:extLst>
              <a:ext uri="{FF2B5EF4-FFF2-40B4-BE49-F238E27FC236}">
                <a16:creationId xmlns:a16="http://schemas.microsoft.com/office/drawing/2014/main" id="{58C755EC-AC0C-9301-7D91-2576B857C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noProof="0" dirty="0"/>
              <a:t>Let’s have a great time together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BBF5F6-29D0-B236-53FC-489F721E8B80}"/>
              </a:ext>
            </a:extLst>
          </p:cNvPr>
          <p:cNvSpPr txBox="1"/>
          <p:nvPr/>
        </p:nvSpPr>
        <p:spPr>
          <a:xfrm>
            <a:off x="817055" y="1751634"/>
            <a:ext cx="36761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noProof="0" dirty="0">
                <a:solidFill>
                  <a:srgbClr val="0078D4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We all contribute to a great class</a:t>
            </a:r>
          </a:p>
        </p:txBody>
      </p:sp>
      <p:sp>
        <p:nvSpPr>
          <p:cNvPr id="6" name="Rounded Rectangle 3_1">
            <a:extLst>
              <a:ext uri="{FF2B5EF4-FFF2-40B4-BE49-F238E27FC236}">
                <a16:creationId xmlns:a16="http://schemas.microsoft.com/office/drawing/2014/main" id="{C6B9F38D-336E-8D63-061E-F4C05B7FD639}"/>
              </a:ext>
            </a:extLst>
          </p:cNvPr>
          <p:cNvSpPr/>
          <p:nvPr/>
        </p:nvSpPr>
        <p:spPr>
          <a:xfrm>
            <a:off x="585808" y="2148199"/>
            <a:ext cx="4942288" cy="3827151"/>
          </a:xfrm>
          <a:prstGeom prst="roundRect">
            <a:avLst>
              <a:gd name="adj" fmla="val 113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en-US" sz="1600" noProof="0" dirty="0">
                <a:solidFill>
                  <a:schemeClr val="tx1"/>
                </a:solidFill>
                <a:cs typeface="Segoe UI" panose="020B0502040204020203" pitchFamily="34" charset="0"/>
              </a:rPr>
              <a:t>This placeholder is designed with bulleted text</a:t>
            </a:r>
          </a:p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en-US" sz="1600" noProof="0" dirty="0">
                <a:solidFill>
                  <a:schemeClr val="tx1"/>
                </a:solidFill>
                <a:cs typeface="Segoe UI" panose="020B0502040204020203" pitchFamily="34" charset="0"/>
              </a:rPr>
              <a:t>It’s easy to remove or add bullets </a:t>
            </a:r>
          </a:p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en-US" sz="1600" noProof="0" dirty="0">
                <a:solidFill>
                  <a:schemeClr val="tx1"/>
                </a:solidFill>
                <a:cs typeface="Segoe UI" panose="020B0502040204020203" pitchFamily="34" charset="0"/>
              </a:rPr>
              <a:t>Be on time (class hours)</a:t>
            </a:r>
          </a:p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en-US" sz="1600" noProof="0" dirty="0">
                <a:solidFill>
                  <a:schemeClr val="tx1"/>
                </a:solidFill>
                <a:cs typeface="Segoe UI" panose="020B0502040204020203" pitchFamily="34" charset="0"/>
              </a:rPr>
              <a:t>Be present (avoid mail, calls, side meetings)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34F1B33-E3A8-4CC1-310D-CD6A36507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881055" y="1601290"/>
            <a:ext cx="1110600" cy="1110600"/>
            <a:chOff x="9378893" y="2116300"/>
            <a:chExt cx="1110600" cy="1110600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DC215CC-252B-AC70-BF00-8CB7AF83F42D}"/>
                </a:ext>
              </a:extLst>
            </p:cNvPr>
            <p:cNvSpPr/>
            <p:nvPr/>
          </p:nvSpPr>
          <p:spPr>
            <a:xfrm>
              <a:off x="9378893" y="211630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EAC0EFFE-36D9-4A72-1918-09CCD4854B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9587795" y="2325202"/>
              <a:ext cx="692796" cy="692796"/>
            </a:xfrm>
            <a:prstGeom prst="rect">
              <a:avLst/>
            </a:prstGeom>
            <a:noFill/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BEAF08C-426A-06BB-D908-6B660126BC80}"/>
              </a:ext>
            </a:extLst>
          </p:cNvPr>
          <p:cNvSpPr txBox="1"/>
          <p:nvPr/>
        </p:nvSpPr>
        <p:spPr>
          <a:xfrm>
            <a:off x="6839610" y="1751634"/>
            <a:ext cx="40640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noProof="0" dirty="0">
                <a:solidFill>
                  <a:srgbClr val="0078D4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What you should know about our facilities</a:t>
            </a:r>
          </a:p>
        </p:txBody>
      </p:sp>
      <p:sp>
        <p:nvSpPr>
          <p:cNvPr id="9" name="Rounded Rectangle 3_1">
            <a:extLst>
              <a:ext uri="{FF2B5EF4-FFF2-40B4-BE49-F238E27FC236}">
                <a16:creationId xmlns:a16="http://schemas.microsoft.com/office/drawing/2014/main" id="{6B943E88-6F61-C13A-1F54-27D8B885A30A}"/>
              </a:ext>
            </a:extLst>
          </p:cNvPr>
          <p:cNvSpPr/>
          <p:nvPr/>
        </p:nvSpPr>
        <p:spPr>
          <a:xfrm>
            <a:off x="6608363" y="2148199"/>
            <a:ext cx="4942288" cy="3827151"/>
          </a:xfrm>
          <a:prstGeom prst="roundRect">
            <a:avLst>
              <a:gd name="adj" fmla="val 113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en-US" sz="1600" noProof="0" dirty="0">
                <a:solidFill>
                  <a:schemeClr val="tx1"/>
                </a:solidFill>
                <a:cs typeface="Segoe UI" panose="020B0502040204020203" pitchFamily="34" charset="0"/>
              </a:rPr>
              <a:t>This placeholder is designed with bulleted text</a:t>
            </a:r>
          </a:p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en-US" sz="1600" noProof="0" dirty="0">
                <a:solidFill>
                  <a:schemeClr val="tx1"/>
                </a:solidFill>
                <a:cs typeface="Segoe UI" panose="020B0502040204020203" pitchFamily="34" charset="0"/>
              </a:rPr>
              <a:t>This section can be removed if the class is online</a:t>
            </a:r>
          </a:p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en-US" sz="1600" noProof="0" dirty="0">
                <a:solidFill>
                  <a:schemeClr val="tx1"/>
                </a:solidFill>
                <a:cs typeface="Segoe UI" panose="020B0502040204020203" pitchFamily="34" charset="0"/>
              </a:rPr>
              <a:t>Accommodations </a:t>
            </a:r>
          </a:p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en-US" sz="1600" noProof="0" dirty="0">
                <a:solidFill>
                  <a:schemeClr val="tx1"/>
                </a:solidFill>
                <a:cs typeface="Segoe UI" panose="020B0502040204020203" pitchFamily="34" charset="0"/>
              </a:rPr>
              <a:t>Internet access</a:t>
            </a:r>
          </a:p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en-US" sz="1600" noProof="0" dirty="0">
                <a:solidFill>
                  <a:schemeClr val="tx1"/>
                </a:solidFill>
                <a:cs typeface="Segoe UI" panose="020B0502040204020203" pitchFamily="34" charset="0"/>
              </a:rPr>
              <a:t>Parking</a:t>
            </a:r>
          </a:p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en-US" sz="1600" noProof="0" dirty="0">
                <a:solidFill>
                  <a:schemeClr val="tx1"/>
                </a:solidFill>
                <a:cs typeface="Segoe UI" panose="020B0502040204020203" pitchFamily="34" charset="0"/>
              </a:rPr>
              <a:t>Restrooms</a:t>
            </a:r>
          </a:p>
          <a:p>
            <a:pPr marL="137160" lvl="0" indent="-137160" defTabSz="932742"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en-US" sz="1600" noProof="0" dirty="0">
                <a:solidFill>
                  <a:schemeClr val="tx1"/>
                </a:solidFill>
                <a:cs typeface="Segoe UI" panose="020B0502040204020203" pitchFamily="34" charset="0"/>
              </a:rPr>
              <a:t>Emergency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B0047E5-B518-C13B-8353-666E006102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903610" y="1601290"/>
            <a:ext cx="1110600" cy="1110600"/>
            <a:chOff x="10903610" y="1601290"/>
            <a:chExt cx="1110600" cy="111060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5B736C2-1C90-8A49-E734-868EE7F38A90}"/>
                </a:ext>
              </a:extLst>
            </p:cNvPr>
            <p:cNvSpPr/>
            <p:nvPr/>
          </p:nvSpPr>
          <p:spPr>
            <a:xfrm>
              <a:off x="10903610" y="160129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0F55B0A-C385-DFFB-4C51-DD4F3316F9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11112512" y="1810192"/>
              <a:ext cx="692796" cy="692796"/>
            </a:xfrm>
            <a:prstGeom prst="rect">
              <a:avLst/>
            </a:prstGeom>
            <a:noFill/>
          </p:spPr>
        </p:pic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87129-3E98-A309-ECAE-E0EF1D6CC0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n-US" noProof="0" dirty="0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11" name="Flowchart: Off-page Connector 44">
            <a:extLst>
              <a:ext uri="{FF2B5EF4-FFF2-40B4-BE49-F238E27FC236}">
                <a16:creationId xmlns:a16="http://schemas.microsoft.com/office/drawing/2014/main" id="{943C345B-D210-3CB5-16C1-AB12814BBEA2}"/>
              </a:ext>
            </a:extLst>
          </p:cNvPr>
          <p:cNvSpPr/>
          <p:nvPr/>
        </p:nvSpPr>
        <p:spPr bwMode="auto">
          <a:xfrm rot="5400000">
            <a:off x="10442257" y="-850392"/>
            <a:ext cx="1865376" cy="3566160"/>
          </a:xfrm>
          <a:prstGeom prst="flowChartOffpageConnector">
            <a:avLst/>
          </a:prstGeom>
          <a:solidFill>
            <a:srgbClr val="091F2C"/>
          </a:solidFill>
          <a:ln>
            <a:noFill/>
            <a:headEnd type="none" w="med" len="med"/>
            <a:tailEnd type="none" w="med" len="med"/>
          </a:ln>
          <a:effectLst>
            <a:outerShdw blurRad="317500" algn="ctr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274320" tIns="585216" rIns="27432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ts val="600"/>
              </a:spcAft>
            </a:pPr>
            <a:r>
              <a:rPr lang="en-US" sz="1500" b="1" noProof="0" dirty="0">
                <a:solidFill>
                  <a:schemeClr val="bg1"/>
                </a:solidFill>
                <a:latin typeface="+mj-lt"/>
                <a:ea typeface="Segoe UI" pitchFamily="34" charset="0"/>
                <a:cs typeface="Segoe UI" pitchFamily="34" charset="0"/>
              </a:rPr>
              <a:t>Trainers: </a:t>
            </a:r>
            <a:endParaRPr lang="en-US" sz="1100" b="1" noProof="0" dirty="0">
              <a:solidFill>
                <a:schemeClr val="bg1"/>
              </a:solidFill>
              <a:latin typeface="+mj-lt"/>
              <a:ea typeface="Segoe UI" pitchFamily="34" charset="0"/>
              <a:cs typeface="Segoe UI" pitchFamily="34" charset="0"/>
            </a:endParaRPr>
          </a:p>
          <a:p>
            <a:pPr marL="0" marR="0" lvl="0" indent="0" defTabSz="932472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rPr>
              <a:t>Customize this slide for your course. </a:t>
            </a:r>
          </a:p>
          <a:p>
            <a:pPr marL="0" marR="0" lvl="0" indent="0" defTabSz="932472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rPr>
              <a:t>Delete this note before presenting to your Learners.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12563709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9107B-9C8D-E0E4-10D6-02E35D83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About this course</a:t>
            </a:r>
          </a:p>
        </p:txBody>
      </p:sp>
      <p:sp>
        <p:nvSpPr>
          <p:cNvPr id="15" name="Rounded Rectangle 3_1">
            <a:extLst>
              <a:ext uri="{FF2B5EF4-FFF2-40B4-BE49-F238E27FC236}">
                <a16:creationId xmlns:a16="http://schemas.microsoft.com/office/drawing/2014/main" id="{C30E3F23-57C3-CEE2-DD2F-E66B72B8F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8262" y="1168401"/>
            <a:ext cx="11011600" cy="2061954"/>
          </a:xfrm>
          <a:prstGeom prst="roundRect">
            <a:avLst>
              <a:gd name="adj" fmla="val 3632"/>
            </a:avLst>
          </a:prstGeom>
          <a:solidFill>
            <a:schemeClr val="bg1"/>
          </a:solidFill>
          <a:ln w="10795" cap="flat" cmpd="sng" algn="ctr">
            <a:noFill/>
            <a:prstDash val="solid"/>
          </a:ln>
          <a:effectLst>
            <a:outerShdw blurRad="127000" dist="38100" dir="8100000" sx="101000" sy="101000" algn="tr" rotWithShape="0">
              <a:srgbClr val="CAC5B8">
                <a:alpha val="6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5069EA8-1883-9482-758E-F5D0C58727C0}"/>
              </a:ext>
            </a:extLst>
          </p:cNvPr>
          <p:cNvSpPr>
            <a:spLocks/>
          </p:cNvSpPr>
          <p:nvPr/>
        </p:nvSpPr>
        <p:spPr bwMode="auto">
          <a:xfrm>
            <a:off x="736601" y="1334807"/>
            <a:ext cx="10739119" cy="415993"/>
          </a:xfrm>
          <a:prstGeom prst="roundRect">
            <a:avLst>
              <a:gd name="adj" fmla="val 15951"/>
            </a:avLst>
          </a:prstGeom>
          <a:solidFill>
            <a:srgbClr val="2A446F"/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Course description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15275E9-F296-1E2D-E2D3-6BAE1C5EFAAF}"/>
              </a:ext>
            </a:extLst>
          </p:cNvPr>
          <p:cNvSpPr txBox="1">
            <a:spLocks/>
          </p:cNvSpPr>
          <p:nvPr/>
        </p:nvSpPr>
        <p:spPr>
          <a:xfrm>
            <a:off x="930275" y="2014126"/>
            <a:ext cx="10318570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65176" marR="0" indent="-128016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91440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noProof="0" dirty="0"/>
              <a:t>Database professionals learn to design, secure, and optimize SQL Server and Azure SQL solutions. It covers advanced T-SQL, AI-assisted development, security, performance tuning, and CI/CD for database projects. The final learning path builds end-to-end RAG solutions using vector embeddings, similarity search, and Azure OpenAI directly inside the database engine.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DB93D-1EC9-595D-92A7-994F4EA5AE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n-US" noProof="0" dirty="0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Rounded Rectangle 3_1">
            <a:extLst>
              <a:ext uri="{FF2B5EF4-FFF2-40B4-BE49-F238E27FC236}">
                <a16:creationId xmlns:a16="http://schemas.microsoft.com/office/drawing/2014/main" id="{B2DCCFC4-E436-83BE-8CF8-D432F67D456F}"/>
              </a:ext>
            </a:extLst>
          </p:cNvPr>
          <p:cNvSpPr/>
          <p:nvPr/>
        </p:nvSpPr>
        <p:spPr>
          <a:xfrm>
            <a:off x="579438" y="3384984"/>
            <a:ext cx="11011600" cy="2916653"/>
          </a:xfrm>
          <a:prstGeom prst="roundRect">
            <a:avLst>
              <a:gd name="adj" fmla="val 3632"/>
            </a:avLst>
          </a:prstGeom>
          <a:solidFill>
            <a:schemeClr val="bg1"/>
          </a:solidFill>
          <a:ln w="10795" cap="flat" cmpd="sng" algn="ctr">
            <a:noFill/>
            <a:prstDash val="solid"/>
          </a:ln>
          <a:effectLst>
            <a:outerShdw blurRad="127000" dist="38100" dir="8100000" sx="101000" sy="101000" algn="tr" rotWithShape="0">
              <a:srgbClr val="CAC5B8">
                <a:alpha val="64000"/>
              </a:srgb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0159278-BCCF-ED96-6DDF-F99D4AB962DE}"/>
              </a:ext>
            </a:extLst>
          </p:cNvPr>
          <p:cNvSpPr>
            <a:spLocks/>
          </p:cNvSpPr>
          <p:nvPr/>
        </p:nvSpPr>
        <p:spPr bwMode="auto">
          <a:xfrm>
            <a:off x="758911" y="3497535"/>
            <a:ext cx="10739119" cy="494867"/>
          </a:xfrm>
          <a:prstGeom prst="roundRect">
            <a:avLst>
              <a:gd name="adj" fmla="val 15951"/>
            </a:avLst>
          </a:prstGeom>
          <a:solidFill>
            <a:srgbClr val="2A446F"/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US" sz="1600" noProof="0" dirty="0">
                <a:solidFill>
                  <a:schemeClr val="bg1"/>
                </a:solidFill>
                <a:latin typeface="Segoe UI Semibold"/>
                <a:cs typeface="Segoe UI" panose="020B0502040204020203" pitchFamily="34" charset="0"/>
              </a:rPr>
              <a:t>Learning objectives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8496248-2E13-8ACB-914E-08C9164F9D79}"/>
              </a:ext>
            </a:extLst>
          </p:cNvPr>
          <p:cNvSpPr txBox="1">
            <a:spLocks/>
          </p:cNvSpPr>
          <p:nvPr/>
        </p:nvSpPr>
        <p:spPr>
          <a:xfrm>
            <a:off x="952585" y="4127994"/>
            <a:ext cx="10303782" cy="2019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65176" marR="0" indent="-128016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91440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b="0" i="0" noProof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After completing this course, you will be able to:</a:t>
            </a:r>
          </a:p>
          <a:p>
            <a:r>
              <a:rPr lang="en-US" noProof="0" dirty="0"/>
              <a:t>Design tables, views, stored procedures, and triggers for SQL Server and Azure SQL.</a:t>
            </a:r>
          </a:p>
          <a:p>
            <a:r>
              <a:rPr lang="en-US" noProof="0" dirty="0"/>
              <a:t>Write advanced T-SQL with window functions, pivots, and dynamic SQL.</a:t>
            </a:r>
          </a:p>
          <a:p>
            <a:r>
              <a:rPr lang="en-US" noProof="0" dirty="0"/>
              <a:t>Accelerate development with GitHub Copilot and AI-assisted tooling.</a:t>
            </a:r>
          </a:p>
          <a:p>
            <a:r>
              <a:rPr lang="en-US" noProof="0" dirty="0"/>
              <a:t>Implement row-level security, data masking, and encryption.</a:t>
            </a:r>
          </a:p>
          <a:p>
            <a:r>
              <a:rPr lang="en-US" noProof="0" dirty="0"/>
              <a:t>Optimize performance and build CI/CD pipelines with </a:t>
            </a:r>
            <a:r>
              <a:rPr lang="en-US" noProof="0" dirty="0" err="1"/>
              <a:t>SqlPackage</a:t>
            </a:r>
            <a:r>
              <a:rPr lang="en-US" noProof="0" dirty="0"/>
              <a:t>.</a:t>
            </a:r>
          </a:p>
          <a:p>
            <a:r>
              <a:rPr lang="en-US" noProof="0" dirty="0"/>
              <a:t>Build RAG solutions with vector embeddings and Azure OpenAI in SQL.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645546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9107B-9C8D-E0E4-10D6-02E35D838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389" y="477236"/>
            <a:ext cx="8193024" cy="307777"/>
          </a:xfrm>
        </p:spPr>
        <p:txBody>
          <a:bodyPr/>
          <a:lstStyle/>
          <a:p>
            <a:r>
              <a:rPr lang="en-US" noProof="0" dirty="0"/>
              <a:t>Course schedule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C8BB8F-7CC0-EDB6-33FC-6C0DF6FAC1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9389" y="6491421"/>
            <a:ext cx="4151312" cy="197976"/>
          </a:xfrm>
        </p:spPr>
        <p:txBody>
          <a:bodyPr/>
          <a:lstStyle/>
          <a:p>
            <a:pPr defTabSz="914367">
              <a:defRPr/>
            </a:pPr>
            <a:r>
              <a:rPr lang="en-US" noProof="0" dirty="0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4" name="Rounded Rectangle 3_1">
            <a:extLst>
              <a:ext uri="{FF2B5EF4-FFF2-40B4-BE49-F238E27FC236}">
                <a16:creationId xmlns:a16="http://schemas.microsoft.com/office/drawing/2014/main" id="{F9F46C76-F9B5-765C-6D1B-DC84C38C8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5219" y="941212"/>
            <a:ext cx="10638538" cy="5004707"/>
          </a:xfrm>
          <a:prstGeom prst="roundRect">
            <a:avLst>
              <a:gd name="adj" fmla="val 3632"/>
            </a:avLst>
          </a:prstGeom>
          <a:solidFill>
            <a:schemeClr val="bg1"/>
          </a:soli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607AD97-0229-E16C-8A52-E00FE0922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43559" y="1107620"/>
            <a:ext cx="10375898" cy="342901"/>
          </a:xfrm>
          <a:prstGeom prst="roundRect">
            <a:avLst>
              <a:gd name="adj" fmla="val 15951"/>
            </a:avLst>
          </a:prstGeom>
          <a:solidFill>
            <a:srgbClr val="2A446F"/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32472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7FA263BB-FFFE-F83A-4C20-23E03F817B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6479600"/>
              </p:ext>
            </p:extLst>
          </p:nvPr>
        </p:nvGraphicFramePr>
        <p:xfrm>
          <a:off x="643559" y="1052756"/>
          <a:ext cx="10375899" cy="4713522"/>
        </p:xfrm>
        <a:graphic>
          <a:graphicData uri="http://schemas.openxmlformats.org/drawingml/2006/table">
            <a:tbl>
              <a:tblPr firstRow="1" bandRow="1"/>
              <a:tblGrid>
                <a:gridCol w="1497695">
                  <a:extLst>
                    <a:ext uri="{9D8B030D-6E8A-4147-A177-3AD203B41FA5}">
                      <a16:colId xmlns:a16="http://schemas.microsoft.com/office/drawing/2014/main" val="4041653763"/>
                    </a:ext>
                  </a:extLst>
                </a:gridCol>
                <a:gridCol w="2219551">
                  <a:extLst>
                    <a:ext uri="{9D8B030D-6E8A-4147-A177-3AD203B41FA5}">
                      <a16:colId xmlns:a16="http://schemas.microsoft.com/office/drawing/2014/main" val="3053328036"/>
                    </a:ext>
                  </a:extLst>
                </a:gridCol>
                <a:gridCol w="2219551">
                  <a:extLst>
                    <a:ext uri="{9D8B030D-6E8A-4147-A177-3AD203B41FA5}">
                      <a16:colId xmlns:a16="http://schemas.microsoft.com/office/drawing/2014/main" val="2794884741"/>
                    </a:ext>
                  </a:extLst>
                </a:gridCol>
                <a:gridCol w="2219551">
                  <a:extLst>
                    <a:ext uri="{9D8B030D-6E8A-4147-A177-3AD203B41FA5}">
                      <a16:colId xmlns:a16="http://schemas.microsoft.com/office/drawing/2014/main" val="1216412027"/>
                    </a:ext>
                  </a:extLst>
                </a:gridCol>
                <a:gridCol w="2219551">
                  <a:extLst>
                    <a:ext uri="{9D8B030D-6E8A-4147-A177-3AD203B41FA5}">
                      <a16:colId xmlns:a16="http://schemas.microsoft.com/office/drawing/2014/main" val="3076119136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endParaRPr lang="en-US" sz="1200" b="1" kern="1200" noProof="0" dirty="0">
                        <a:solidFill>
                          <a:schemeClr val="bg1"/>
                        </a:solidFill>
                        <a:latin typeface="Segoe UI Semibold" panose="020B0502040204020203" pitchFamily="34" charset="0"/>
                        <a:ea typeface="+mn-ea"/>
                        <a:cs typeface="Segoe UI Semibold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kern="1200" noProof="0" dirty="0">
                          <a:solidFill>
                            <a:schemeClr val="bg1"/>
                          </a:solidFill>
                          <a:latin typeface="Segoe UI Semibold"/>
                          <a:ea typeface="+mn-ea"/>
                          <a:cs typeface="Segoe UI Semibold"/>
                        </a:rPr>
                        <a:t>Day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kern="1200" noProof="0" dirty="0">
                          <a:solidFill>
                            <a:schemeClr val="bg1"/>
                          </a:solidFill>
                          <a:latin typeface="Segoe UI Semibold"/>
                          <a:ea typeface="+mn-ea"/>
                          <a:cs typeface="Segoe UI Semibold"/>
                        </a:rPr>
                        <a:t>Day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kern="1200" noProof="0" dirty="0">
                          <a:solidFill>
                            <a:schemeClr val="bg1"/>
                          </a:solidFill>
                          <a:latin typeface="Segoe UI Semibold"/>
                          <a:ea typeface="+mn-ea"/>
                          <a:cs typeface="Segoe UI Semibold"/>
                        </a:rPr>
                        <a:t>Day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kern="1200" noProof="0" dirty="0">
                          <a:solidFill>
                            <a:schemeClr val="bg1"/>
                          </a:solidFill>
                          <a:latin typeface="Segoe UI Semibold"/>
                          <a:ea typeface="+mn-ea"/>
                          <a:cs typeface="Segoe UI Semibold"/>
                        </a:rPr>
                        <a:t>Day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3888734"/>
                  </a:ext>
                </a:extLst>
              </a:tr>
              <a:tr h="813518">
                <a:tc>
                  <a:txBody>
                    <a:bodyPr/>
                    <a:lstStyle>
                      <a:lvl1pPr marL="0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66371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32742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99113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65484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331856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98226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64597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730969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 lvl="0" indent="0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noProof="0" dirty="0">
                          <a:solidFill>
                            <a:schemeClr val="tx1"/>
                          </a:solidFill>
                          <a:latin typeface="Segoe UI Semibold"/>
                          <a:ea typeface="+mn-ea"/>
                          <a:cs typeface="Segoe UI Semibold"/>
                        </a:rPr>
                        <a:t>Early morning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66371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32742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99113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65484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331856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98226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64597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730969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0160" marR="381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83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</a:rPr>
                        <a:t>&lt;Instructor, insert your course plan here&gt;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Segoe U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000" b="0" i="0" u="none" strike="noStrike" noProof="0" dirty="0">
                        <a:solidFill>
                          <a:srgbClr val="0078D4"/>
                        </a:solidFill>
                        <a:effectLst/>
                        <a:latin typeface="+mn-lt"/>
                        <a:hlinkClick r:id="rId2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000" b="0" i="0" u="none" strike="noStrike" noProof="0" dirty="0">
                        <a:solidFill>
                          <a:srgbClr val="0078D4"/>
                        </a:solidFill>
                        <a:effectLst/>
                        <a:latin typeface="+mn-lt"/>
                        <a:hlinkClick r:id="rId2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66371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32742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99113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65484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331856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98226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64597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730969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000" b="0" i="0" u="none" strike="noStrike" noProof="0" dirty="0">
                        <a:solidFill>
                          <a:srgbClr val="0078D4"/>
                        </a:solidFill>
                        <a:effectLst/>
                        <a:latin typeface="+mn-lt"/>
                        <a:hlinkClick r:id="rId2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015222"/>
                  </a:ext>
                </a:extLst>
              </a:tr>
              <a:tr h="356994">
                <a:tc>
                  <a:txBody>
                    <a:bodyPr/>
                    <a:lstStyle/>
                    <a:p>
                      <a:pPr marL="0" marR="0" lvl="0" indent="0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noProof="0" dirty="0">
                          <a:solidFill>
                            <a:schemeClr val="tx2"/>
                          </a:solidFill>
                          <a:latin typeface="+mj-lt"/>
                          <a:ea typeface="+mn-ea"/>
                          <a:cs typeface="Segoe UI"/>
                        </a:rPr>
                        <a:t>Break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DC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10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228600" algn="l"/>
                        </a:tabLst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Segoe UI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DC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sz="1000" b="0" u="none" strike="noStrike" noProof="0" dirty="0">
                        <a:solidFill>
                          <a:srgbClr val="0078D4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DC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sz="1000" b="0" u="none" strike="noStrike" noProof="0" dirty="0">
                        <a:solidFill>
                          <a:srgbClr val="0078D4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DC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sz="1000" b="0" u="none" strike="noStrike" noProof="0" dirty="0">
                        <a:solidFill>
                          <a:srgbClr val="0078D4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DC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613195"/>
                  </a:ext>
                </a:extLst>
              </a:tr>
              <a:tr h="813518">
                <a:tc>
                  <a:txBody>
                    <a:bodyPr/>
                    <a:lstStyle>
                      <a:lvl1pPr marL="0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66371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32742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99113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65484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331856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98226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64597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730969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 lvl="0" indent="0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noProof="0" dirty="0">
                          <a:solidFill>
                            <a:schemeClr val="tx1"/>
                          </a:solidFill>
                          <a:latin typeface="Segoe UI Semibold"/>
                          <a:ea typeface="+mn-ea"/>
                          <a:cs typeface="Segoe UI Semibold"/>
                        </a:rPr>
                        <a:t>Late morning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66371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32742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99113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65484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331856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98226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64597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730969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0160" marR="3810" lvl="0" indent="0" algn="l">
                        <a:lnSpc>
                          <a:spcPct val="100000"/>
                        </a:lnSpc>
                        <a:spcBef>
                          <a:spcPts val="83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/>
                        </a:rPr>
                        <a:t>&lt;Instructor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/>
                        </a:rPr>
                        <a:t>, </a:t>
                      </a:r>
                      <a:r>
                        <a:rPr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/>
                        </a:rPr>
                        <a:t>insert your course plan here&gt;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Segoe U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sz="1000" b="0" u="none" strike="noStrike" noProof="0" dirty="0">
                        <a:solidFill>
                          <a:srgbClr val="0078D4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sz="1000" b="0" u="none" strike="noStrike" noProof="0" dirty="0">
                        <a:solidFill>
                          <a:srgbClr val="0078D4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66371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32742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99113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65484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331856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98226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64597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730969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marL="0" indent="0" algn="l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sz="1000" b="0" u="none" strike="noStrike" noProof="0" dirty="0">
                        <a:solidFill>
                          <a:srgbClr val="0078D4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540036"/>
                  </a:ext>
                </a:extLst>
              </a:tr>
              <a:tr h="319781">
                <a:tc>
                  <a:txBody>
                    <a:bodyPr/>
                    <a:lstStyle/>
                    <a:p>
                      <a:pPr marL="0" marR="0" lvl="0" indent="0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noProof="0" dirty="0">
                          <a:solidFill>
                            <a:schemeClr val="tx2"/>
                          </a:solidFill>
                          <a:latin typeface="+mj-lt"/>
                          <a:ea typeface="+mn-ea"/>
                          <a:cs typeface="Segoe UI"/>
                        </a:rPr>
                        <a:t>Lunch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DC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10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228600" algn="l"/>
                        </a:tabLst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Segoe UI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DC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sz="1000" b="0" u="none" strike="noStrike" noProof="0" dirty="0">
                        <a:solidFill>
                          <a:srgbClr val="0078D4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DC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sz="1000" b="0" u="none" strike="noStrike" noProof="0" dirty="0">
                        <a:solidFill>
                          <a:srgbClr val="0078D4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DC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sz="1000" b="0" u="none" strike="noStrike" noProof="0" dirty="0">
                        <a:solidFill>
                          <a:srgbClr val="0078D4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DC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2926652"/>
                  </a:ext>
                </a:extLst>
              </a:tr>
              <a:tr h="813518">
                <a:tc>
                  <a:txBody>
                    <a:bodyPr/>
                    <a:lstStyle/>
                    <a:p>
                      <a:pPr marL="0" marR="0" lvl="0" indent="0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noProof="0" dirty="0">
                          <a:solidFill>
                            <a:schemeClr val="tx1"/>
                          </a:solidFill>
                          <a:latin typeface="Segoe UI Semibold"/>
                          <a:ea typeface="+mn-ea"/>
                          <a:cs typeface="Segoe UI Semibold"/>
                        </a:rPr>
                        <a:t>Early afternoon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160" marR="3810" lvl="0" indent="0" algn="l">
                        <a:lnSpc>
                          <a:spcPct val="100000"/>
                        </a:lnSpc>
                        <a:spcBef>
                          <a:spcPts val="83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/>
                        </a:rPr>
                        <a:t>&lt;Instructor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/>
                        </a:rPr>
                        <a:t>, </a:t>
                      </a:r>
                      <a:r>
                        <a:rPr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/>
                        </a:rPr>
                        <a:t>insert your course plan here&gt;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Segoe U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000" b="0" u="none" strike="noStrike" noProof="0" dirty="0">
                        <a:solidFill>
                          <a:srgbClr val="0078D4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000" b="0" u="none" strike="noStrike" noProof="0" dirty="0">
                        <a:solidFill>
                          <a:srgbClr val="0078D4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000" b="0" u="none" strike="noStrike" noProof="0" dirty="0">
                        <a:solidFill>
                          <a:srgbClr val="0078D4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717511"/>
                  </a:ext>
                </a:extLst>
              </a:tr>
              <a:tr h="352907">
                <a:tc>
                  <a:txBody>
                    <a:bodyPr/>
                    <a:lstStyle/>
                    <a:p>
                      <a:pPr marL="0" marR="0" lvl="0" indent="0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noProof="0" dirty="0">
                          <a:solidFill>
                            <a:schemeClr val="tx2"/>
                          </a:solidFill>
                          <a:latin typeface="+mj-lt"/>
                          <a:ea typeface="+mn-ea"/>
                          <a:cs typeface="Segoe UI"/>
                        </a:rPr>
                        <a:t>Break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DC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10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228600" algn="l"/>
                        </a:tabLst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Segoe UI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DC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sz="1000" b="0" u="none" strike="noStrike" noProof="0" dirty="0">
                        <a:solidFill>
                          <a:srgbClr val="0078D4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DC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sz="1000" b="0" u="none" strike="noStrike" noProof="0" dirty="0">
                        <a:solidFill>
                          <a:srgbClr val="0078D4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DC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sz="1000" b="0" u="none" strike="noStrike" noProof="0" dirty="0">
                        <a:solidFill>
                          <a:srgbClr val="0078D4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DC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738825"/>
                  </a:ext>
                </a:extLst>
              </a:tr>
              <a:tr h="813518">
                <a:tc>
                  <a:txBody>
                    <a:bodyPr/>
                    <a:lstStyle>
                      <a:lvl1pPr marL="0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66371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32742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99113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65484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331856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98226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64597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730969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 lvl="0" indent="0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noProof="0" dirty="0">
                          <a:solidFill>
                            <a:schemeClr val="tx1"/>
                          </a:solidFill>
                          <a:latin typeface="Segoe UI Semibold"/>
                          <a:ea typeface="+mn-ea"/>
                          <a:cs typeface="Segoe UI Semibold"/>
                        </a:rPr>
                        <a:t>Late afternoon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66371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32742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99113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65484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331856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98226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64597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730969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0160" marR="3810" lvl="0" indent="0" algn="l">
                        <a:lnSpc>
                          <a:spcPct val="100000"/>
                        </a:lnSpc>
                        <a:spcBef>
                          <a:spcPts val="83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/>
                        </a:rPr>
                        <a:t>&lt;Instructor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/>
                        </a:rPr>
                        <a:t>, </a:t>
                      </a:r>
                      <a:r>
                        <a:rPr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/>
                        </a:rPr>
                        <a:t>insert your course plan here&gt;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Segoe U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000" b="0" u="none" strike="noStrike" noProof="0" dirty="0">
                        <a:solidFill>
                          <a:srgbClr val="0078D4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000" b="0" u="none" strike="noStrike" noProof="0" dirty="0">
                        <a:solidFill>
                          <a:srgbClr val="0078D4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66371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32742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99113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65484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331856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98226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64597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730969" algn="l" defTabSz="932742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000" b="0" u="none" strike="noStrike" noProof="0" dirty="0">
                        <a:solidFill>
                          <a:srgbClr val="0078D4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32959"/>
                  </a:ext>
                </a:extLst>
              </a:tr>
            </a:tbl>
          </a:graphicData>
        </a:graphic>
      </p:graphicFrame>
      <p:sp>
        <p:nvSpPr>
          <p:cNvPr id="5" name="Flowchart: Off-page Connector 44">
            <a:extLst>
              <a:ext uri="{FF2B5EF4-FFF2-40B4-BE49-F238E27FC236}">
                <a16:creationId xmlns:a16="http://schemas.microsoft.com/office/drawing/2014/main" id="{1F394D1D-BDBD-8A10-7310-E9A02D22ECC0}"/>
              </a:ext>
            </a:extLst>
          </p:cNvPr>
          <p:cNvSpPr/>
          <p:nvPr/>
        </p:nvSpPr>
        <p:spPr bwMode="auto">
          <a:xfrm rot="5400000">
            <a:off x="9473183" y="-558292"/>
            <a:ext cx="1865376" cy="3566160"/>
          </a:xfrm>
          <a:prstGeom prst="flowChartOffpageConnector">
            <a:avLst/>
          </a:prstGeom>
          <a:solidFill>
            <a:srgbClr val="091F2C"/>
          </a:solidFill>
          <a:ln>
            <a:noFill/>
            <a:headEnd type="none" w="med" len="med"/>
            <a:tailEnd type="none" w="med" len="med"/>
          </a:ln>
          <a:effectLst>
            <a:outerShdw blurRad="317500" algn="ctr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274320" tIns="585216" rIns="27432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" pitchFamily="34" charset="0"/>
              </a:rPr>
              <a:t>Trainers: 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Segoe UI" pitchFamily="34" charset="0"/>
              <a:cs typeface="Segoe UI" pitchFamily="34" charset="0"/>
            </a:endParaRP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rPr>
              <a:t>Find the proposed schedule in the Trainer Prep Guide (PDF) and customize more if needed. </a:t>
            </a:r>
            <a:endParaRPr lang="en-US" sz="1100" kern="0" noProof="0" dirty="0">
              <a:solidFill>
                <a:srgbClr val="FFFFFF"/>
              </a:solidFill>
              <a:latin typeface="Segoe UI"/>
              <a:ea typeface="Segoe UI" pitchFamily="34" charset="0"/>
              <a:cs typeface="Segoe UI" pitchFamily="34" charset="0"/>
            </a:endParaRPr>
          </a:p>
          <a:p>
            <a:pPr defTabSz="932472" fontAlgn="base">
              <a:spcBef>
                <a:spcPct val="0"/>
              </a:spcBef>
              <a:spcAft>
                <a:spcPts val="600"/>
              </a:spcAft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rPr>
              <a:t>Delete this note before presenting to your Learners.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843996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EC5683A2-2179-3E79-6645-D011C29AE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5507738" cy="861774"/>
          </a:xfrm>
        </p:spPr>
        <p:txBody>
          <a:bodyPr/>
          <a:lstStyle/>
          <a:p>
            <a:pPr marL="0" marR="0" lvl="0" indent="0" fontAlgn="auto">
              <a:spcAft>
                <a:spcPts val="0"/>
              </a:spcAft>
              <a:tabLst/>
              <a:defRPr/>
            </a:pPr>
            <a:r>
              <a:rPr lang="en-US" sz="2800" noProof="0" dirty="0"/>
              <a:t>Get the most out of your Microsoft Learn profile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01561EF4-D3D7-16D6-06AC-E0E8E0EE810E}"/>
              </a:ext>
            </a:extLst>
          </p:cNvPr>
          <p:cNvSpPr txBox="1">
            <a:spLocks/>
          </p:cNvSpPr>
          <p:nvPr/>
        </p:nvSpPr>
        <p:spPr>
          <a:xfrm>
            <a:off x="582348" y="1759165"/>
            <a:ext cx="5806188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Verify, track, and share your training and certification progress and accomplishments—</a:t>
            </a: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all on one platform.</a:t>
            </a:r>
          </a:p>
        </p:txBody>
      </p:sp>
      <p:sp>
        <p:nvSpPr>
          <p:cNvPr id="20" name="Text Placeholder 61">
            <a:extLst>
              <a:ext uri="{FF2B5EF4-FFF2-40B4-BE49-F238E27FC236}">
                <a16:creationId xmlns:a16="http://schemas.microsoft.com/office/drawing/2014/main" id="{D49F25EC-A170-C832-AE24-EB03D8AF0995}"/>
              </a:ext>
            </a:extLst>
          </p:cNvPr>
          <p:cNvSpPr txBox="1">
            <a:spLocks/>
          </p:cNvSpPr>
          <p:nvPr/>
        </p:nvSpPr>
        <p:spPr>
          <a:xfrm>
            <a:off x="586389" y="2654712"/>
            <a:ext cx="5373085" cy="2412968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/>
              <a:t>Claim your achievement code for this course and share you have completed it.</a:t>
            </a:r>
          </a:p>
          <a:p>
            <a:r>
              <a:rPr lang="en-US" noProof="0" dirty="0"/>
              <a:t>Access your course material and track progress on your learning activities.</a:t>
            </a:r>
          </a:p>
          <a:p>
            <a:r>
              <a:rPr lang="en-US" noProof="0" dirty="0"/>
              <a:t>Share and verify your Microsoft Credentials via email, on social networking platforms, and on your resume.</a:t>
            </a:r>
          </a:p>
          <a:p>
            <a:r>
              <a:rPr lang="en-US" noProof="0" dirty="0"/>
              <a:t>Download and print transcripts and certificates.</a:t>
            </a:r>
          </a:p>
          <a:p>
            <a:r>
              <a:rPr lang="en-US" noProof="0" dirty="0"/>
              <a:t>Manage your upcoming activities and credential appointments.</a:t>
            </a: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70ABBD99-35D1-F53B-C2EF-D0E437DC2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0813" y="5435139"/>
            <a:ext cx="4464280" cy="559721"/>
          </a:xfrm>
          <a:custGeom>
            <a:avLst/>
            <a:gdLst>
              <a:gd name="connsiteX0" fmla="*/ 0 w 8437531"/>
              <a:gd name="connsiteY0" fmla="*/ 0 h 1223512"/>
              <a:gd name="connsiteX1" fmla="*/ 8299274 w 8437531"/>
              <a:gd name="connsiteY1" fmla="*/ 0 h 1223512"/>
              <a:gd name="connsiteX2" fmla="*/ 8437531 w 8437531"/>
              <a:gd name="connsiteY2" fmla="*/ 138257 h 1223512"/>
              <a:gd name="connsiteX3" fmla="*/ 8437531 w 8437531"/>
              <a:gd name="connsiteY3" fmla="*/ 1085255 h 1223512"/>
              <a:gd name="connsiteX4" fmla="*/ 8299274 w 8437531"/>
              <a:gd name="connsiteY4" fmla="*/ 1223512 h 1223512"/>
              <a:gd name="connsiteX5" fmla="*/ 0 w 8437531"/>
              <a:gd name="connsiteY5" fmla="*/ 1223512 h 1223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37531" h="1223512">
                <a:moveTo>
                  <a:pt x="0" y="0"/>
                </a:moveTo>
                <a:lnTo>
                  <a:pt x="8299274" y="0"/>
                </a:lnTo>
                <a:cubicBezTo>
                  <a:pt x="8375631" y="0"/>
                  <a:pt x="8437531" y="61900"/>
                  <a:pt x="8437531" y="138257"/>
                </a:cubicBezTo>
                <a:lnTo>
                  <a:pt x="8437531" y="1085255"/>
                </a:lnTo>
                <a:cubicBezTo>
                  <a:pt x="8437531" y="1161612"/>
                  <a:pt x="8375631" y="1223512"/>
                  <a:pt x="8299274" y="1223512"/>
                </a:cubicBezTo>
                <a:lnTo>
                  <a:pt x="0" y="1223512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3900000" scaled="0"/>
          </a:gradFill>
          <a:ln>
            <a:noFill/>
          </a:ln>
          <a:effectLst>
            <a:outerShdw blurRad="254000" dist="38100" dir="18900000" sx="102000" sy="102000" algn="bl" rotWithShape="0">
              <a:schemeClr val="bg1"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73ECC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7" name="Text Placeholder 13">
            <a:extLst>
              <a:ext uri="{FF2B5EF4-FFF2-40B4-BE49-F238E27FC236}">
                <a16:creationId xmlns:a16="http://schemas.microsoft.com/office/drawing/2014/main" id="{1902BDB0-F449-F635-7020-1B2246BBEAEC}"/>
              </a:ext>
            </a:extLst>
          </p:cNvPr>
          <p:cNvSpPr txBox="1">
            <a:spLocks/>
          </p:cNvSpPr>
          <p:nvPr/>
        </p:nvSpPr>
        <p:spPr>
          <a:xfrm>
            <a:off x="584200" y="5591889"/>
            <a:ext cx="3930650" cy="246221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noProof="0" dirty="0">
                <a:solidFill>
                  <a:schemeClr val="bg1"/>
                </a:solidFill>
                <a:latin typeface="+mj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www.aka.ms/MyMicrosoftLearnProfile</a:t>
            </a:r>
            <a:endParaRPr lang="en-US" noProof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CAD44BD2-B747-01D0-8FB4-522B662FE479}"/>
              </a:ext>
            </a:extLst>
          </p:cNvPr>
          <p:cNvSpPr txBox="1">
            <a:spLocks/>
          </p:cNvSpPr>
          <p:nvPr/>
        </p:nvSpPr>
        <p:spPr>
          <a:xfrm>
            <a:off x="7456697" y="808435"/>
            <a:ext cx="4337207" cy="448031"/>
          </a:xfrm>
          <a:prstGeom prst="rect">
            <a:avLst/>
          </a:prstGeom>
        </p:spPr>
        <p:txBody>
          <a:bodyPr anchor="ctr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noProof="0" dirty="0">
                <a:latin typeface="+mj-lt"/>
              </a:rPr>
              <a:t>Create your Microsoft Learn profile </a:t>
            </a:r>
            <a:br>
              <a:rPr lang="en-US" noProof="0" dirty="0">
                <a:latin typeface="+mj-lt"/>
              </a:rPr>
            </a:br>
            <a:r>
              <a:rPr lang="en-US" noProof="0" dirty="0">
                <a:latin typeface="+mj-lt"/>
              </a:rPr>
              <a:t>at </a:t>
            </a:r>
            <a:r>
              <a:rPr lang="en-US" noProof="0" dirty="0">
                <a:solidFill>
                  <a:srgbClr val="2A446F"/>
                </a:solidFill>
                <a:latin typeface="+mj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learn.microsoft.com</a:t>
            </a:r>
            <a:endParaRPr lang="en-US" noProof="0" dirty="0">
              <a:solidFill>
                <a:srgbClr val="2A446F"/>
              </a:solidFill>
              <a:latin typeface="+mj-lt"/>
            </a:endParaRP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FA6EE8B-E7DC-E3A5-0383-CA443F74FCEE}"/>
              </a:ext>
            </a:extLst>
          </p:cNvPr>
          <p:cNvSpPr txBox="1">
            <a:spLocks/>
          </p:cNvSpPr>
          <p:nvPr/>
        </p:nvSpPr>
        <p:spPr>
          <a:xfrm>
            <a:off x="7562323" y="1407733"/>
            <a:ext cx="3499377" cy="1034802"/>
          </a:xfrm>
          <a:prstGeom prst="rect">
            <a:avLst/>
          </a:prstGeom>
        </p:spPr>
        <p:txBody>
          <a:bodyPr l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noProof="0" dirty="0"/>
              <a:t>Select </a:t>
            </a:r>
            <a:r>
              <a:rPr lang="en-US" sz="1100" i="1" noProof="0" dirty="0"/>
              <a:t>Sign in </a:t>
            </a:r>
            <a:r>
              <a:rPr lang="en-US" sz="1100" noProof="0" dirty="0"/>
              <a:t>at</a:t>
            </a:r>
            <a:r>
              <a:rPr lang="en-US" sz="1100" i="1" noProof="0" dirty="0"/>
              <a:t> </a:t>
            </a:r>
            <a:r>
              <a:rPr lang="en-US" sz="1100" noProof="0" dirty="0"/>
              <a:t>the top, right corner of any Microsoft Learn page. </a:t>
            </a:r>
          </a:p>
          <a:p>
            <a:r>
              <a:rPr lang="en-US" sz="1100" noProof="0" dirty="0"/>
              <a:t>Follow the Microsoft account authentication process. </a:t>
            </a:r>
          </a:p>
          <a:p>
            <a:r>
              <a:rPr lang="en-US" sz="1100" noProof="0" dirty="0"/>
              <a:t>If the account that you have chosen to sign-in with doesn't already have a Microsoft Learn profile, you’ll be guided to create one. </a:t>
            </a:r>
          </a:p>
        </p:txBody>
      </p:sp>
      <p:sp>
        <p:nvSpPr>
          <p:cNvPr id="8" name="Arrow: Bent 7">
            <a:extLst>
              <a:ext uri="{FF2B5EF4-FFF2-40B4-BE49-F238E27FC236}">
                <a16:creationId xmlns:a16="http://schemas.microsoft.com/office/drawing/2014/main" id="{024DB499-4361-4308-FC9B-E543A47F6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rot="5400000">
            <a:off x="9952757" y="945735"/>
            <a:ext cx="1841380" cy="2309176"/>
          </a:xfrm>
          <a:prstGeom prst="bentArrow">
            <a:avLst>
              <a:gd name="adj1" fmla="val 25000"/>
              <a:gd name="adj2" fmla="val 0"/>
              <a:gd name="adj3" fmla="val 25000"/>
              <a:gd name="adj4" fmla="val 6314"/>
            </a:avLst>
          </a:prstGeom>
          <a:ln w="25400" cap="rnd">
            <a:solidFill>
              <a:schemeClr val="accent2"/>
            </a:solidFill>
            <a:round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noProof="0" dirty="0">
              <a:solidFill>
                <a:srgbClr val="FFFFFF"/>
              </a:solidFill>
              <a:latin typeface="Segoe UI"/>
              <a:cs typeface="Segoe UI" pitchFamily="34" charset="0"/>
            </a:endParaRP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F3914AB5-A7A1-B1CF-3AF3-81A8583CD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 rot="16200000" flipH="1">
            <a:off x="7958667" y="2334302"/>
            <a:ext cx="3793070" cy="4707465"/>
          </a:xfrm>
          <a:prstGeom prst="round2SameRect">
            <a:avLst>
              <a:gd name="adj1" fmla="val 2163"/>
              <a:gd name="adj2" fmla="val 0"/>
            </a:avLst>
          </a:prstGeom>
          <a:solidFill>
            <a:srgbClr val="E8E6DF"/>
          </a:solidFill>
          <a:ln w="6350">
            <a:noFill/>
          </a:ln>
          <a:effectLst>
            <a:outerShdw blurRad="127000" dist="76200" dir="9600000" algn="r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vert270" wrap="none" lIns="274320" tIns="0" rIns="27432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30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4B548A-EC78-506E-7F99-D22648A96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" r="15210"/>
          <a:stretch/>
        </p:blipFill>
        <p:spPr>
          <a:xfrm>
            <a:off x="7458887" y="2745069"/>
            <a:ext cx="4737876" cy="3870680"/>
          </a:xfrm>
          <a:prstGeom prst="rect">
            <a:avLst/>
          </a:prstGeom>
          <a:noFill/>
          <a:ln w="38100">
            <a:noFill/>
          </a:ln>
          <a:effectLst/>
        </p:spPr>
      </p:pic>
      <p:pic>
        <p:nvPicPr>
          <p:cNvPr id="12" name="Picture 11" descr="Microsoft Learn website screenshot">
            <a:extLst>
              <a:ext uri="{FF2B5EF4-FFF2-40B4-BE49-F238E27FC236}">
                <a16:creationId xmlns:a16="http://schemas.microsoft.com/office/drawing/2014/main" id="{B0EEA3EE-F7F6-BA6A-F342-518877845D4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3"/>
          <a:stretch/>
        </p:blipFill>
        <p:spPr>
          <a:xfrm>
            <a:off x="7720926" y="3033275"/>
            <a:ext cx="4480303" cy="33722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887BF4-33EA-A468-090A-94ACB3C77D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 rot="5400000">
            <a:off x="11970573" y="2916615"/>
            <a:ext cx="114925" cy="170961"/>
          </a:xfrm>
          <a:prstGeom prst="rect">
            <a:avLst/>
          </a:prstGeom>
        </p:spPr>
      </p:pic>
      <p:pic>
        <p:nvPicPr>
          <p:cNvPr id="5" name="Picture 4" descr="Sign in pop-up">
            <a:extLst>
              <a:ext uri="{FF2B5EF4-FFF2-40B4-BE49-F238E27FC236}">
                <a16:creationId xmlns:a16="http://schemas.microsoft.com/office/drawing/2014/main" id="{06632F90-8BFB-A457-5B90-5C3445C5B30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1967" y="3232230"/>
            <a:ext cx="1939466" cy="1486251"/>
          </a:xfrm>
          <a:prstGeom prst="rect">
            <a:avLst/>
          </a:prstGeom>
          <a:ln w="34925">
            <a:noFill/>
          </a:ln>
          <a:effectLst>
            <a:outerShdw blurRad="314198" dist="111760" dir="8040000" algn="ctr" rotWithShape="0">
              <a:srgbClr val="000000">
                <a:alpha val="22000"/>
              </a:srgbClr>
            </a:outerShdw>
          </a:effec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E7426D-DC20-2106-1286-3E57DEC9DD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</p:spPr>
        <p:txBody>
          <a:bodyPr/>
          <a:lstStyle/>
          <a:p>
            <a:r>
              <a:rPr lang="en-US" noProof="0" dirty="0"/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5129229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767E9-DE24-BFC9-0344-C106894F0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585788"/>
            <a:ext cx="5862637" cy="430887"/>
          </a:xfrm>
        </p:spPr>
        <p:txBody>
          <a:bodyPr/>
          <a:lstStyle/>
          <a:p>
            <a:r>
              <a:rPr lang="en-US" sz="2800" noProof="0" dirty="0"/>
              <a:t>Access your course material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044A96B-6E8F-0626-1F15-2DB8E0B8E052}"/>
              </a:ext>
            </a:extLst>
          </p:cNvPr>
          <p:cNvSpPr txBox="1">
            <a:spLocks/>
          </p:cNvSpPr>
          <p:nvPr/>
        </p:nvSpPr>
        <p:spPr>
          <a:xfrm>
            <a:off x="582348" y="1239164"/>
            <a:ext cx="5806188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All course content is available on Microsoft Learn. 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27E476-C5F2-1EE3-D528-BABA8D3D8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0814" y="2024221"/>
            <a:ext cx="6106813" cy="559721"/>
          </a:xfrm>
          <a:custGeom>
            <a:avLst/>
            <a:gdLst>
              <a:gd name="connsiteX0" fmla="*/ 0 w 8437531"/>
              <a:gd name="connsiteY0" fmla="*/ 0 h 1223512"/>
              <a:gd name="connsiteX1" fmla="*/ 8299274 w 8437531"/>
              <a:gd name="connsiteY1" fmla="*/ 0 h 1223512"/>
              <a:gd name="connsiteX2" fmla="*/ 8437531 w 8437531"/>
              <a:gd name="connsiteY2" fmla="*/ 138257 h 1223512"/>
              <a:gd name="connsiteX3" fmla="*/ 8437531 w 8437531"/>
              <a:gd name="connsiteY3" fmla="*/ 1085255 h 1223512"/>
              <a:gd name="connsiteX4" fmla="*/ 8299274 w 8437531"/>
              <a:gd name="connsiteY4" fmla="*/ 1223512 h 1223512"/>
              <a:gd name="connsiteX5" fmla="*/ 0 w 8437531"/>
              <a:gd name="connsiteY5" fmla="*/ 1223512 h 1223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37531" h="1223512">
                <a:moveTo>
                  <a:pt x="0" y="0"/>
                </a:moveTo>
                <a:lnTo>
                  <a:pt x="8299274" y="0"/>
                </a:lnTo>
                <a:cubicBezTo>
                  <a:pt x="8375631" y="0"/>
                  <a:pt x="8437531" y="61900"/>
                  <a:pt x="8437531" y="138257"/>
                </a:cubicBezTo>
                <a:lnTo>
                  <a:pt x="8437531" y="1085255"/>
                </a:lnTo>
                <a:cubicBezTo>
                  <a:pt x="8437531" y="1161612"/>
                  <a:pt x="8375631" y="1223512"/>
                  <a:pt x="8299274" y="1223512"/>
                </a:cubicBezTo>
                <a:lnTo>
                  <a:pt x="0" y="1223512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3900000" scaled="0"/>
          </a:gradFill>
          <a:ln>
            <a:noFill/>
          </a:ln>
          <a:effectLst>
            <a:outerShdw blurRad="254000" dist="38100" dir="18900000" sx="102000" sy="102000" algn="bl" rotWithShape="0">
              <a:schemeClr val="bg1"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73ECC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E81F08F0-69C3-503F-98FA-49046BF52668}"/>
              </a:ext>
            </a:extLst>
          </p:cNvPr>
          <p:cNvSpPr txBox="1">
            <a:spLocks/>
          </p:cNvSpPr>
          <p:nvPr/>
        </p:nvSpPr>
        <p:spPr>
          <a:xfrm>
            <a:off x="584199" y="2180971"/>
            <a:ext cx="5268144" cy="246221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1600" noProof="0" dirty="0">
                <a:solidFill>
                  <a:schemeClr val="bg1"/>
                </a:solidFill>
                <a:latin typeface="+mj-lt"/>
              </a:rPr>
              <a:t>https://aka.ms/develop-ai-enabled-database-solutions</a:t>
            </a:r>
          </a:p>
        </p:txBody>
      </p:sp>
      <p:sp>
        <p:nvSpPr>
          <p:cNvPr id="11" name="Text Placeholder 61">
            <a:extLst>
              <a:ext uri="{FF2B5EF4-FFF2-40B4-BE49-F238E27FC236}">
                <a16:creationId xmlns:a16="http://schemas.microsoft.com/office/drawing/2014/main" id="{872DF97A-AE97-BEEE-3029-CB3AEFF7028B}"/>
              </a:ext>
            </a:extLst>
          </p:cNvPr>
          <p:cNvSpPr txBox="1">
            <a:spLocks/>
          </p:cNvSpPr>
          <p:nvPr/>
        </p:nvSpPr>
        <p:spPr>
          <a:xfrm>
            <a:off x="579439" y="3006168"/>
            <a:ext cx="3967162" cy="1034129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>
                <a:solidFill>
                  <a:srgbClr val="000000"/>
                </a:solidFill>
                <a:latin typeface="Segoe UI"/>
              </a:rPr>
              <a:t>We’ll go through this content together and, as the course progresses, I will advise you on which modules to review.</a:t>
            </a:r>
          </a:p>
          <a:p>
            <a:r>
              <a:rPr lang="en-US" noProof="0" dirty="0"/>
              <a:t>You can provide feedback for modules on Microsoft Learn. Find out how at the bottom of each page.</a:t>
            </a:r>
          </a:p>
        </p:txBody>
      </p:sp>
      <p:sp>
        <p:nvSpPr>
          <p:cNvPr id="10" name="Arrow: Bent 9">
            <a:extLst>
              <a:ext uri="{FF2B5EF4-FFF2-40B4-BE49-F238E27FC236}">
                <a16:creationId xmlns:a16="http://schemas.microsoft.com/office/drawing/2014/main" id="{B56AF5A9-049E-D4E1-241B-A0246FF8C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rot="5400000">
            <a:off x="3909313" y="3290824"/>
            <a:ext cx="803042" cy="3083017"/>
          </a:xfrm>
          <a:prstGeom prst="bentArrow">
            <a:avLst>
              <a:gd name="adj1" fmla="val 25000"/>
              <a:gd name="adj2" fmla="val 0"/>
              <a:gd name="adj3" fmla="val 25000"/>
              <a:gd name="adj4" fmla="val 10625"/>
            </a:avLst>
          </a:prstGeom>
          <a:ln w="25400" cap="rnd">
            <a:solidFill>
              <a:schemeClr val="accent2"/>
            </a:solidFill>
            <a:round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noProof="0" dirty="0">
              <a:solidFill>
                <a:srgbClr val="FFFFFF"/>
              </a:solidFill>
              <a:latin typeface="Segoe UI"/>
              <a:cs typeface="Segoe UI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93B8A40-AC34-02A8-B4D3-A0BD25F10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 rot="5400000">
            <a:off x="5794880" y="5177239"/>
            <a:ext cx="114925" cy="170961"/>
          </a:xfrm>
          <a:prstGeom prst="rect">
            <a:avLst/>
          </a:prstGeom>
          <a:ln>
            <a:noFill/>
          </a:ln>
        </p:spPr>
      </p:pic>
      <p:sp>
        <p:nvSpPr>
          <p:cNvPr id="3" name="TextBox 2" descr="Troubleshooting and feedback links">
            <a:extLst>
              <a:ext uri="{FF2B5EF4-FFF2-40B4-BE49-F238E27FC236}">
                <a16:creationId xmlns:a16="http://schemas.microsoft.com/office/drawing/2014/main" id="{360893F1-E6FC-BCCD-7BCE-C1472B5FED7F}"/>
              </a:ext>
            </a:extLst>
          </p:cNvPr>
          <p:cNvSpPr txBox="1"/>
          <p:nvPr/>
        </p:nvSpPr>
        <p:spPr>
          <a:xfrm>
            <a:off x="-2104" y="5444835"/>
            <a:ext cx="6899293" cy="4308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l"/>
            <a:endParaRPr lang="en-US" sz="1600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44FFB8-5059-001C-648C-CA5C14D7F109}"/>
              </a:ext>
            </a:extLst>
          </p:cNvPr>
          <p:cNvSpPr txBox="1"/>
          <p:nvPr/>
        </p:nvSpPr>
        <p:spPr>
          <a:xfrm>
            <a:off x="188857" y="5547279"/>
            <a:ext cx="636552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200" noProof="0" dirty="0">
                <a:latin typeface="+mj-lt"/>
              </a:rPr>
              <a:t>Need help? See our </a:t>
            </a:r>
            <a:r>
              <a:rPr lang="en-US" sz="1200" noProof="0" dirty="0">
                <a:latin typeface="+mj-lt"/>
                <a:hlinkClick r:id="rId3"/>
              </a:rPr>
              <a:t>troubleshooting guide</a:t>
            </a:r>
            <a:r>
              <a:rPr lang="en-US" sz="1200" noProof="0" dirty="0">
                <a:latin typeface="+mj-lt"/>
              </a:rPr>
              <a:t> or provide feedback for </a:t>
            </a:r>
            <a:r>
              <a:rPr lang="en-US" sz="1200" noProof="0" dirty="0">
                <a:latin typeface="+mj-lt"/>
                <a:hlinkClick r:id="rId4"/>
              </a:rPr>
              <a:t>Microsoft Learn content</a:t>
            </a:r>
            <a:r>
              <a:rPr lang="en-US" sz="1200" noProof="0" dirty="0">
                <a:latin typeface="+mj-lt"/>
              </a:rPr>
              <a:t>.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91BC0955-5F04-8692-97FB-179B5EDB16EB}"/>
              </a:ext>
            </a:extLst>
          </p:cNvPr>
          <p:cNvSpPr txBox="1">
            <a:spLocks/>
          </p:cNvSpPr>
          <p:nvPr/>
        </p:nvSpPr>
        <p:spPr>
          <a:xfrm>
            <a:off x="7764307" y="2180971"/>
            <a:ext cx="440690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This course includes labs:</a:t>
            </a:r>
          </a:p>
        </p:txBody>
      </p:sp>
      <p:sp>
        <p:nvSpPr>
          <p:cNvPr id="33" name="Text Placeholder 61">
            <a:extLst>
              <a:ext uri="{FF2B5EF4-FFF2-40B4-BE49-F238E27FC236}">
                <a16:creationId xmlns:a16="http://schemas.microsoft.com/office/drawing/2014/main" id="{6BA32D2F-A3BB-0F92-562E-47913E4D8086}"/>
              </a:ext>
            </a:extLst>
          </p:cNvPr>
          <p:cNvSpPr txBox="1">
            <a:spLocks/>
          </p:cNvSpPr>
          <p:nvPr/>
        </p:nvSpPr>
        <p:spPr>
          <a:xfrm>
            <a:off x="7764307" y="2614433"/>
            <a:ext cx="359357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65176" marR="0" indent="-128016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91440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noProof="0" dirty="0">
                <a:solidFill>
                  <a:srgbClr val="000000"/>
                </a:solidFill>
                <a:latin typeface="Segoe UI"/>
              </a:rPr>
              <a:t>Detailed lab instructions are included in your lab environment.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0B8C1002-7AB4-728F-DFD1-D736F69B7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7764307" y="3903857"/>
            <a:ext cx="4427693" cy="564642"/>
          </a:xfrm>
          <a:custGeom>
            <a:avLst/>
            <a:gdLst>
              <a:gd name="connsiteX0" fmla="*/ 0 w 8437531"/>
              <a:gd name="connsiteY0" fmla="*/ 0 h 1223512"/>
              <a:gd name="connsiteX1" fmla="*/ 8299274 w 8437531"/>
              <a:gd name="connsiteY1" fmla="*/ 0 h 1223512"/>
              <a:gd name="connsiteX2" fmla="*/ 8437531 w 8437531"/>
              <a:gd name="connsiteY2" fmla="*/ 138257 h 1223512"/>
              <a:gd name="connsiteX3" fmla="*/ 8437531 w 8437531"/>
              <a:gd name="connsiteY3" fmla="*/ 1085255 h 1223512"/>
              <a:gd name="connsiteX4" fmla="*/ 8299274 w 8437531"/>
              <a:gd name="connsiteY4" fmla="*/ 1223512 h 1223512"/>
              <a:gd name="connsiteX5" fmla="*/ 0 w 8437531"/>
              <a:gd name="connsiteY5" fmla="*/ 1223512 h 1223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37531" h="1223512">
                <a:moveTo>
                  <a:pt x="0" y="0"/>
                </a:moveTo>
                <a:lnTo>
                  <a:pt x="8299274" y="0"/>
                </a:lnTo>
                <a:cubicBezTo>
                  <a:pt x="8375631" y="0"/>
                  <a:pt x="8437531" y="61900"/>
                  <a:pt x="8437531" y="138257"/>
                </a:cubicBezTo>
                <a:lnTo>
                  <a:pt x="8437531" y="1085255"/>
                </a:lnTo>
                <a:cubicBezTo>
                  <a:pt x="8437531" y="1161612"/>
                  <a:pt x="8375631" y="1223512"/>
                  <a:pt x="8299274" y="1223512"/>
                </a:cubicBezTo>
                <a:lnTo>
                  <a:pt x="0" y="122351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18900000" sx="102000" sy="102000" algn="bl" rotWithShape="0">
              <a:schemeClr val="bg1"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73ECC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7FF546A5-9F65-C8AE-FEFD-9330CE945664}"/>
              </a:ext>
            </a:extLst>
          </p:cNvPr>
          <p:cNvSpPr txBox="1">
            <a:spLocks/>
          </p:cNvSpPr>
          <p:nvPr/>
        </p:nvSpPr>
        <p:spPr>
          <a:xfrm>
            <a:off x="8009877" y="4063068"/>
            <a:ext cx="4182124" cy="326052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1800" b="0" i="0" u="none" strike="noStrike" noProof="0" dirty="0">
                <a:solidFill>
                  <a:srgbClr val="BF3AC4"/>
                </a:solidFill>
                <a:effectLst/>
                <a:highlight>
                  <a:srgbClr val="F5F5F5"/>
                </a:highlight>
                <a:latin typeface="Segoe UI Semibold" panose="020B0702040204020203" pitchFamily="34" charset="0"/>
              </a:rPr>
              <a:t>https://aka.ms/SQLAIDevLabs</a:t>
            </a:r>
            <a:endParaRPr lang="en-US" sz="1600" noProof="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3E430-4D21-6070-565F-549992A363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</p:spPr>
        <p:txBody>
          <a:bodyPr/>
          <a:lstStyle/>
          <a:p>
            <a:r>
              <a:rPr lang="en-US" noProof="0" dirty="0"/>
              <a:t>© Copyright Microsoft Corporation. All rights reserved.</a:t>
            </a:r>
          </a:p>
        </p:txBody>
      </p:sp>
      <p:sp>
        <p:nvSpPr>
          <p:cNvPr id="12" name="Flowchart: Off-page Connector 44">
            <a:extLst>
              <a:ext uri="{FF2B5EF4-FFF2-40B4-BE49-F238E27FC236}">
                <a16:creationId xmlns:a16="http://schemas.microsoft.com/office/drawing/2014/main" id="{A7C0440A-51C0-130E-5BFE-B9CBA86B51FA}"/>
              </a:ext>
            </a:extLst>
          </p:cNvPr>
          <p:cNvSpPr/>
          <p:nvPr/>
        </p:nvSpPr>
        <p:spPr bwMode="auto">
          <a:xfrm rot="5400000">
            <a:off x="5112660" y="2344435"/>
            <a:ext cx="1865376" cy="3683487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8000 h 10000"/>
              <a:gd name="connsiteX3" fmla="*/ 5000 w 10000"/>
              <a:gd name="connsiteY3" fmla="*/ 10000 h 10000"/>
              <a:gd name="connsiteX4" fmla="*/ 0 w 10000"/>
              <a:gd name="connsiteY4" fmla="*/ 8000 h 10000"/>
              <a:gd name="connsiteX5" fmla="*/ 0 w 10000"/>
              <a:gd name="connsiteY5" fmla="*/ 0 h 10000"/>
              <a:gd name="connsiteX0" fmla="*/ 0 w 10000"/>
              <a:gd name="connsiteY0" fmla="*/ 42 h 10042"/>
              <a:gd name="connsiteX1" fmla="*/ 4876 w 10000"/>
              <a:gd name="connsiteY1" fmla="*/ 0 h 10042"/>
              <a:gd name="connsiteX2" fmla="*/ 10000 w 10000"/>
              <a:gd name="connsiteY2" fmla="*/ 42 h 10042"/>
              <a:gd name="connsiteX3" fmla="*/ 10000 w 10000"/>
              <a:gd name="connsiteY3" fmla="*/ 8042 h 10042"/>
              <a:gd name="connsiteX4" fmla="*/ 5000 w 10000"/>
              <a:gd name="connsiteY4" fmla="*/ 10042 h 10042"/>
              <a:gd name="connsiteX5" fmla="*/ 0 w 10000"/>
              <a:gd name="connsiteY5" fmla="*/ 8042 h 10042"/>
              <a:gd name="connsiteX6" fmla="*/ 0 w 10000"/>
              <a:gd name="connsiteY6" fmla="*/ 42 h 10042"/>
              <a:gd name="connsiteX0" fmla="*/ 0 w 10000"/>
              <a:gd name="connsiteY0" fmla="*/ 2329 h 12329"/>
              <a:gd name="connsiteX1" fmla="*/ 5123 w 10000"/>
              <a:gd name="connsiteY1" fmla="*/ 0 h 12329"/>
              <a:gd name="connsiteX2" fmla="*/ 10000 w 10000"/>
              <a:gd name="connsiteY2" fmla="*/ 2329 h 12329"/>
              <a:gd name="connsiteX3" fmla="*/ 10000 w 10000"/>
              <a:gd name="connsiteY3" fmla="*/ 10329 h 12329"/>
              <a:gd name="connsiteX4" fmla="*/ 5000 w 10000"/>
              <a:gd name="connsiteY4" fmla="*/ 12329 h 12329"/>
              <a:gd name="connsiteX5" fmla="*/ 0 w 10000"/>
              <a:gd name="connsiteY5" fmla="*/ 10329 h 12329"/>
              <a:gd name="connsiteX6" fmla="*/ 0 w 10000"/>
              <a:gd name="connsiteY6" fmla="*/ 2329 h 12329"/>
              <a:gd name="connsiteX0" fmla="*/ 0 w 10000"/>
              <a:gd name="connsiteY0" fmla="*/ 2329 h 10329"/>
              <a:gd name="connsiteX1" fmla="*/ 5123 w 10000"/>
              <a:gd name="connsiteY1" fmla="*/ 0 h 10329"/>
              <a:gd name="connsiteX2" fmla="*/ 10000 w 10000"/>
              <a:gd name="connsiteY2" fmla="*/ 2329 h 10329"/>
              <a:gd name="connsiteX3" fmla="*/ 10000 w 10000"/>
              <a:gd name="connsiteY3" fmla="*/ 10329 h 10329"/>
              <a:gd name="connsiteX4" fmla="*/ 0 w 10000"/>
              <a:gd name="connsiteY4" fmla="*/ 10329 h 10329"/>
              <a:gd name="connsiteX5" fmla="*/ 0 w 10000"/>
              <a:gd name="connsiteY5" fmla="*/ 2329 h 10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329">
                <a:moveTo>
                  <a:pt x="0" y="2329"/>
                </a:moveTo>
                <a:lnTo>
                  <a:pt x="5123" y="0"/>
                </a:lnTo>
                <a:lnTo>
                  <a:pt x="10000" y="2329"/>
                </a:lnTo>
                <a:lnTo>
                  <a:pt x="10000" y="10329"/>
                </a:lnTo>
                <a:lnTo>
                  <a:pt x="0" y="10329"/>
                </a:lnTo>
                <a:lnTo>
                  <a:pt x="0" y="2329"/>
                </a:lnTo>
                <a:close/>
              </a:path>
            </a:pathLst>
          </a:custGeom>
          <a:solidFill>
            <a:srgbClr val="091F2C"/>
          </a:solidFill>
          <a:ln>
            <a:noFill/>
            <a:headEnd type="none" w="med" len="med"/>
            <a:tailEnd type="none" w="med" len="med"/>
          </a:ln>
          <a:effectLst>
            <a:outerShdw blurRad="317500" algn="ctr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274320" tIns="585216" rIns="27432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ts val="600"/>
              </a:spcAft>
            </a:pPr>
            <a:r>
              <a:rPr lang="en-US" sz="1500" b="1" dirty="0">
                <a:solidFill>
                  <a:schemeClr val="bg1"/>
                </a:solidFill>
                <a:latin typeface="+mj-lt"/>
                <a:ea typeface="Segoe UI" pitchFamily="34" charset="0"/>
                <a:cs typeface="Segoe UI" pitchFamily="34" charset="0"/>
              </a:rPr>
              <a:t>Trainers: </a:t>
            </a:r>
            <a:endParaRPr lang="en-US" sz="1100" b="1" dirty="0">
              <a:solidFill>
                <a:schemeClr val="bg1"/>
              </a:solidFill>
              <a:latin typeface="+mj-lt"/>
              <a:ea typeface="Segoe UI" pitchFamily="34" charset="0"/>
              <a:cs typeface="Segoe UI" pitchFamily="34" charset="0"/>
            </a:endParaRPr>
          </a:p>
          <a:p>
            <a:pPr marL="0" marR="0" lvl="0" indent="0" defTabSz="932472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rPr>
              <a:t>Update the lab URL for the hosted lab environment as appropriate.</a:t>
            </a:r>
          </a:p>
          <a:p>
            <a:pPr marL="0" marR="0" lvl="0" indent="0" defTabSz="932472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100" kern="0" dirty="0">
                <a:solidFill>
                  <a:schemeClr val="bg1"/>
                </a:solidFill>
                <a:latin typeface="Segoe UI"/>
                <a:ea typeface="Segoe UI" pitchFamily="34" charset="0"/>
                <a:cs typeface="Segoe UI" pitchFamily="34" charset="0"/>
              </a:rPr>
              <a:t>Then delete this note.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04800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ACDD559A-25F8-918A-9C24-8A8DF8FB4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1224813"/>
            <a:ext cx="4402493" cy="1107996"/>
          </a:xfrm>
        </p:spPr>
        <p:txBody>
          <a:bodyPr/>
          <a:lstStyle/>
          <a:p>
            <a:r>
              <a:rPr lang="en-US" sz="3600" noProof="0" dirty="0"/>
              <a:t>Become </a:t>
            </a:r>
            <a:br>
              <a:rPr lang="en-US" sz="3600" noProof="0" dirty="0"/>
            </a:br>
            <a:r>
              <a:rPr lang="en-US" sz="3600" noProof="0" dirty="0"/>
              <a:t>Microsoft Certified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0FC82C5-B8CF-CE13-4A23-7C15F1CE30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40699" y="1177367"/>
            <a:ext cx="1110600" cy="1110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5DEF036-DB68-7837-5186-51A159AC8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5667" y="1362335"/>
            <a:ext cx="740664" cy="74066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3322978-A730-EB17-5D62-A209F514E7E2}"/>
              </a:ext>
            </a:extLst>
          </p:cNvPr>
          <p:cNvSpPr txBox="1"/>
          <p:nvPr/>
        </p:nvSpPr>
        <p:spPr>
          <a:xfrm>
            <a:off x="6971476" y="1111960"/>
            <a:ext cx="2196634" cy="830997"/>
          </a:xfrm>
          <a:prstGeom prst="rect">
            <a:avLst/>
          </a:prstGeom>
          <a:noFill/>
        </p:spPr>
        <p:txBody>
          <a:bodyPr wrap="square" lIns="0" tIns="45720" rIns="91440" bIns="45720" rtlCol="0" anchor="t">
            <a:spAutoFit/>
          </a:bodyPr>
          <a:lstStyle>
            <a:defPPr>
              <a:defRPr lang="en-US"/>
            </a:defPPr>
            <a:lvl1pPr>
              <a:defRPr sz="7330" b="1" spc="-50">
                <a:ln w="3175">
                  <a:noFill/>
                </a:ln>
                <a:gradFill>
                  <a:gsLst>
                    <a:gs pos="100000">
                      <a:schemeClr val="accent4"/>
                    </a:gs>
                    <a:gs pos="32000">
                      <a:srgbClr val="FF5C39"/>
                    </a:gs>
                  </a:gsLst>
                  <a:lin ang="3900000" scaled="0"/>
                </a:gradFill>
                <a:latin typeface="Segoe UI Variable Text" pitchFamily="2" charset="0"/>
                <a:cs typeface="Segoe UI Semibold" panose="020B0502040204020203" pitchFamily="34" charset="0"/>
              </a:defRPr>
            </a:lvl1pPr>
          </a:lstStyle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-50" normalizeH="0" baseline="0" noProof="0" dirty="0">
                <a:ln w="3175">
                  <a:noFill/>
                </a:ln>
                <a:solidFill>
                  <a:srgbClr val="BF3AC4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91</a:t>
            </a:r>
            <a:r>
              <a:rPr kumimoji="0" lang="en-US" sz="4400" b="1" i="0" u="none" strike="noStrike" kern="1200" cap="none" spc="-50" normalizeH="0" baseline="30000" noProof="0" dirty="0">
                <a:ln w="3175">
                  <a:noFill/>
                </a:ln>
                <a:solidFill>
                  <a:srgbClr val="BF3AC4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%</a:t>
            </a:r>
            <a:r>
              <a:rPr kumimoji="0" lang="en-US" sz="4800" b="1" i="0" u="none" strike="noStrike" kern="1200" cap="none" spc="-50" normalizeH="0" baseline="0" noProof="0" dirty="0">
                <a:ln w="3175">
                  <a:noFill/>
                </a:ln>
                <a:solidFill>
                  <a:srgbClr val="BF3AC4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 </a:t>
            </a:r>
            <a:endParaRPr kumimoji="0" lang="en-US" sz="4800" b="1" i="0" u="none" strike="noStrike" kern="1200" cap="none" spc="-50" normalizeH="0" baseline="0" noProof="0" dirty="0">
              <a:ln w="3175">
                <a:noFill/>
              </a:ln>
              <a:solidFill>
                <a:srgbClr val="BF3AC4"/>
              </a:solidFill>
              <a:effectLst/>
              <a:uLnTx/>
              <a:uFillTx/>
              <a:latin typeface="Segoe UI Semibold"/>
              <a:ea typeface="+mn-ea"/>
              <a:cs typeface="Segoe UI Semibold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D7965D-FCAF-55DD-10B8-5DF1E54A3BC7}"/>
              </a:ext>
            </a:extLst>
          </p:cNvPr>
          <p:cNvSpPr txBox="1"/>
          <p:nvPr/>
        </p:nvSpPr>
        <p:spPr>
          <a:xfrm>
            <a:off x="6971477" y="1809589"/>
            <a:ext cx="3920788" cy="523220"/>
          </a:xfrm>
          <a:prstGeom prst="rect">
            <a:avLst/>
          </a:prstGeom>
          <a:noFill/>
        </p:spPr>
        <p:txBody>
          <a:bodyPr wrap="square" lIns="0" tIns="45720" rIns="91440" bIns="45720" anchor="t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of certified IT professionals feel more confident in their abilities after earning certifications¹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95DCB5-4258-68B1-1A56-68B7CC5D0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flipV="1">
            <a:off x="-1" y="3117681"/>
            <a:ext cx="12192000" cy="3740319"/>
          </a:xfrm>
          <a:prstGeom prst="rect">
            <a:avLst/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Rounded Rectangle 3_1">
            <a:extLst>
              <a:ext uri="{FF2B5EF4-FFF2-40B4-BE49-F238E27FC236}">
                <a16:creationId xmlns:a16="http://schemas.microsoft.com/office/drawing/2014/main" id="{0CC3932D-AF62-994B-BAF6-36B38660AE6A}"/>
              </a:ext>
            </a:extLst>
          </p:cNvPr>
          <p:cNvSpPr/>
          <p:nvPr/>
        </p:nvSpPr>
        <p:spPr>
          <a:xfrm>
            <a:off x="580399" y="3575048"/>
            <a:ext cx="5367964" cy="1992314"/>
          </a:xfrm>
          <a:prstGeom prst="roundRect">
            <a:avLst>
              <a:gd name="adj" fmla="val 113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45720" rIns="18288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Get recognized by earning industry validation for technical knowledge. Ensure you stay current with the necessary skills and expertise for continued success​.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Start at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Segoe UI"/>
                <a:ea typeface="+mn-ea"/>
                <a:cs typeface="+mn-cs"/>
                <a:hlinkClick r:id="rId4"/>
              </a:rPr>
              <a:t>learn.microsoft.com/credentials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ounded Rectangle 3_1">
            <a:extLst>
              <a:ext uri="{FF2B5EF4-FFF2-40B4-BE49-F238E27FC236}">
                <a16:creationId xmlns:a16="http://schemas.microsoft.com/office/drawing/2014/main" id="{43F14745-9308-59B5-B699-2477843145BF}"/>
              </a:ext>
            </a:extLst>
          </p:cNvPr>
          <p:cNvSpPr/>
          <p:nvPr/>
        </p:nvSpPr>
        <p:spPr>
          <a:xfrm>
            <a:off x="6252005" y="3575843"/>
            <a:ext cx="5367964" cy="1992314"/>
          </a:xfrm>
          <a:prstGeom prst="roundRect">
            <a:avLst>
              <a:gd name="adj" fmla="val 113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45720" rIns="18288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Microsoft role-based and specialty certifications require annual renewal.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3000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Learn about certification renewal at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Segoe UI"/>
                <a:ea typeface="+mn-ea"/>
                <a:cs typeface="+mn-cs"/>
                <a:hlinkClick r:id="rId5"/>
              </a:rPr>
              <a:t>aka.ms/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Segoe UI"/>
                <a:ea typeface="+mn-ea"/>
                <a:cs typeface="+mn-cs"/>
                <a:hlinkClick r:id="rId5"/>
              </a:rPr>
              <a:t>RenewYourCert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D6AEFE-B61B-8AF6-CE8A-695BF709C726}"/>
              </a:ext>
            </a:extLst>
          </p:cNvPr>
          <p:cNvSpPr txBox="1"/>
          <p:nvPr/>
        </p:nvSpPr>
        <p:spPr>
          <a:xfrm>
            <a:off x="583095" y="6082602"/>
            <a:ext cx="11016238" cy="230832"/>
          </a:xfrm>
          <a:prstGeom prst="rect">
            <a:avLst/>
          </a:prstGeom>
          <a:noFill/>
        </p:spPr>
        <p:txBody>
          <a:bodyPr wrap="square" lIns="0" tIns="45720" rIns="91440" bIns="4572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  <a:sym typeface="Segoe UI Semibold"/>
              </a:rPr>
              <a:t>¹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  <a:sym typeface="Segoe UI Semibol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“2023 Value of IT Certification | Candidate Report,” Pearson VUE, 2023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  <a:sym typeface="Segoe UI Semibold"/>
              </a:rPr>
              <a:t>   </a:t>
            </a:r>
            <a:r>
              <a:rPr kumimoji="0" lang="en-US" sz="9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Microsoft fundamentals certifications don’t expire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  <a:sym typeface="Segoe UI Semibold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9E65EAD-DB53-8B16-745F-CE1B015932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5027284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758F5-C35D-A291-068D-13C0D6581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430887"/>
          </a:xfrm>
        </p:spPr>
        <p:txBody>
          <a:bodyPr/>
          <a:lstStyle/>
          <a:p>
            <a:r>
              <a:rPr lang="en-US" sz="2800" noProof="0" dirty="0"/>
              <a:t>Get ready for your Microsoft Credential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774742-B51A-7AB0-5C2C-8C2CFAC7FA4A}"/>
              </a:ext>
            </a:extLst>
          </p:cNvPr>
          <p:cNvSpPr txBox="1"/>
          <p:nvPr/>
        </p:nvSpPr>
        <p:spPr>
          <a:xfrm>
            <a:off x="585217" y="1073388"/>
            <a:ext cx="11031840" cy="369332"/>
          </a:xfrm>
          <a:prstGeom prst="rect">
            <a:avLst/>
          </a:prstGeom>
          <a:noFill/>
        </p:spPr>
        <p:txBody>
          <a:bodyPr wrap="square" lIns="0" tIns="45720" rIns="91440" bIns="45720" anchor="t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  <a:latin typeface="Segoe UI Semibold"/>
                <a:cs typeface="Segoe UI Semibold"/>
              </a:rPr>
              <a:t>DP-800: Develop AI-enabled database solutions</a:t>
            </a:r>
            <a:endParaRPr lang="en-US" sz="1800" noProof="0" dirty="0">
              <a:solidFill>
                <a:schemeClr val="accent2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061EA4-8988-693D-F87C-7BF5591F84CD}"/>
              </a:ext>
            </a:extLst>
          </p:cNvPr>
          <p:cNvSpPr txBox="1"/>
          <p:nvPr/>
        </p:nvSpPr>
        <p:spPr>
          <a:xfrm>
            <a:off x="825500" y="1959331"/>
            <a:ext cx="487992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b="1" noProof="0" dirty="0">
                <a:solidFill>
                  <a:srgbClr val="2A446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Understand the skills measured by the credential</a:t>
            </a:r>
          </a:p>
        </p:txBody>
      </p:sp>
      <p:sp>
        <p:nvSpPr>
          <p:cNvPr id="9" name="Rounded Rectangle 3_1">
            <a:extLst>
              <a:ext uri="{FF2B5EF4-FFF2-40B4-BE49-F238E27FC236}">
                <a16:creationId xmlns:a16="http://schemas.microsoft.com/office/drawing/2014/main" id="{D4BA0CA9-7D1C-CAD8-B69B-7DC32EE7B1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3094" y="2283869"/>
            <a:ext cx="5511801" cy="1964692"/>
          </a:xfrm>
          <a:prstGeom prst="roundRect">
            <a:avLst>
              <a:gd name="adj" fmla="val 6425"/>
            </a:avLst>
          </a:prstGeom>
          <a:gradFill flip="none" rotWithShape="1">
            <a:gsLst>
              <a:gs pos="0">
                <a:srgbClr val="2A446F"/>
              </a:gs>
              <a:gs pos="46520">
                <a:schemeClr val="bg1"/>
              </a:gs>
              <a:gs pos="30000">
                <a:srgbClr val="2A446F"/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lvl="0" defTabSz="932742">
              <a:spcBef>
                <a:spcPct val="20000"/>
              </a:spcBef>
              <a:buSzPct val="90000"/>
              <a:defRPr/>
            </a:pPr>
            <a:endParaRPr lang="en-US" sz="1400" noProof="0" dirty="0">
              <a:solidFill>
                <a:schemeClr val="tx1"/>
              </a:solidFill>
              <a:cs typeface="Segoe UI" panose="020B0502040204020203" pitchFamily="34" charset="0"/>
            </a:endParaRPr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A464DE02-903A-6800-6755-54FB85E0D2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056758"/>
              </p:ext>
            </p:extLst>
          </p:nvPr>
        </p:nvGraphicFramePr>
        <p:xfrm>
          <a:off x="579439" y="2304190"/>
          <a:ext cx="5515456" cy="1944370"/>
        </p:xfrm>
        <a:graphic>
          <a:graphicData uri="http://schemas.openxmlformats.org/drawingml/2006/table">
            <a:tbl>
              <a:tblPr firstRow="1" bandRow="1"/>
              <a:tblGrid>
                <a:gridCol w="3992234">
                  <a:extLst>
                    <a:ext uri="{9D8B030D-6E8A-4147-A177-3AD203B41FA5}">
                      <a16:colId xmlns:a16="http://schemas.microsoft.com/office/drawing/2014/main" val="4041653763"/>
                    </a:ext>
                  </a:extLst>
                </a:gridCol>
                <a:gridCol w="1523222">
                  <a:extLst>
                    <a:ext uri="{9D8B030D-6E8A-4147-A177-3AD203B41FA5}">
                      <a16:colId xmlns:a16="http://schemas.microsoft.com/office/drawing/2014/main" val="3053328036"/>
                    </a:ext>
                  </a:extLst>
                </a:gridCol>
              </a:tblGrid>
              <a:tr h="442255">
                <a:tc>
                  <a:txBody>
                    <a:bodyPr/>
                    <a:lstStyle/>
                    <a:p>
                      <a:r>
                        <a:rPr lang="en-US" sz="1200" b="1" kern="1200" noProof="0" dirty="0">
                          <a:solidFill>
                            <a:schemeClr val="bg1"/>
                          </a:solidFill>
                          <a:latin typeface="Segoe UI Semibold" panose="020B0502040204020203" pitchFamily="34" charset="0"/>
                          <a:ea typeface="+mn-ea"/>
                          <a:cs typeface="Segoe UI Semibold" panose="020B0502040204020203" pitchFamily="34" charset="0"/>
                        </a:rPr>
                        <a:t>Study area</a:t>
                      </a:r>
                    </a:p>
                  </a:txBody>
                  <a:tcPr marL="274320" marR="2743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kern="1200" noProof="0" dirty="0">
                          <a:solidFill>
                            <a:schemeClr val="bg1"/>
                          </a:solidFill>
                          <a:latin typeface="Segoe UI Semibold" panose="020B0502040204020203" pitchFamily="34" charset="0"/>
                          <a:ea typeface="+mn-ea"/>
                          <a:cs typeface="Segoe UI Semibold" panose="020B0502040204020203" pitchFamily="34" charset="0"/>
                        </a:rPr>
                        <a:t>Percentage</a:t>
                      </a:r>
                    </a:p>
                  </a:txBody>
                  <a:tcPr marL="274320" marR="2743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3888734"/>
                  </a:ext>
                </a:extLst>
              </a:tr>
              <a:tr h="505933">
                <a:tc>
                  <a:txBody>
                    <a:bodyPr/>
                    <a:lstStyle>
                      <a:lvl1pPr marL="0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66371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32742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99113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65484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331856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98226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64597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730969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 lvl="0" indent="0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Segoe UI Semibold" panose="020B0502040204020203" pitchFamily="34" charset="0"/>
                        </a:rPr>
                        <a:t>Design and develop database solutions</a:t>
                      </a:r>
                    </a:p>
                  </a:txBody>
                  <a:tcPr marL="274320" marR="2743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Segoe UI Semibold" panose="020B0502040204020203" pitchFamily="34" charset="0"/>
                        </a:rPr>
                        <a:t>35-40% </a:t>
                      </a:r>
                    </a:p>
                  </a:txBody>
                  <a:tcPr marL="274320" marR="274320" marT="330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015222"/>
                  </a:ext>
                </a:extLst>
              </a:tr>
              <a:tr h="525744">
                <a:tc>
                  <a:txBody>
                    <a:bodyPr/>
                    <a:lstStyle>
                      <a:lvl1pPr marL="0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66371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32742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99113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65484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331856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98226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64597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730969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 lvl="0" indent="0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Segoe UI Semibold" panose="020B0502040204020203" pitchFamily="34" charset="0"/>
                        </a:rPr>
                        <a:t>Secure, optimize, and deploy database</a:t>
                      </a:r>
                    </a:p>
                  </a:txBody>
                  <a:tcPr marL="274320" marR="2743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Segoe UI Semibold" panose="020B0502040204020203" pitchFamily="34" charset="0"/>
                        </a:rPr>
                        <a:t>35-40% </a:t>
                      </a:r>
                    </a:p>
                  </a:txBody>
                  <a:tcPr marL="274320" marR="274320" marT="330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540036"/>
                  </a:ext>
                </a:extLst>
              </a:tr>
              <a:tr h="470438">
                <a:tc>
                  <a:txBody>
                    <a:bodyPr/>
                    <a:lstStyle/>
                    <a:p>
                      <a:pPr marL="0" marR="0" lvl="0" indent="0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Segoe UI Semibold" panose="020B0502040204020203" pitchFamily="34" charset="0"/>
                        </a:rPr>
                        <a:t>Implement AI capabilities in database solutions</a:t>
                      </a:r>
                    </a:p>
                  </a:txBody>
                  <a:tcPr marL="274320" marR="2743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Segoe UI Semibold" panose="020B0502040204020203" pitchFamily="34" charset="0"/>
                        </a:rPr>
                        <a:t>25-30% </a:t>
                      </a:r>
                    </a:p>
                  </a:txBody>
                  <a:tcPr marL="274320" marR="274320" marT="330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717511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C07FD58F-F1B5-3570-6A96-B28EABD16FF9}"/>
              </a:ext>
            </a:extLst>
          </p:cNvPr>
          <p:cNvSpPr txBox="1"/>
          <p:nvPr/>
        </p:nvSpPr>
        <p:spPr>
          <a:xfrm>
            <a:off x="6891338" y="1959331"/>
            <a:ext cx="324694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b="1" noProof="0" dirty="0">
                <a:solidFill>
                  <a:srgbClr val="2A446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Build confidence in your skills</a:t>
            </a:r>
          </a:p>
        </p:txBody>
      </p:sp>
      <p:sp>
        <p:nvSpPr>
          <p:cNvPr id="10" name="Rounded Rectangle 3_1">
            <a:extLst>
              <a:ext uri="{FF2B5EF4-FFF2-40B4-BE49-F238E27FC236}">
                <a16:creationId xmlns:a16="http://schemas.microsoft.com/office/drawing/2014/main" id="{E6ED93DF-B06D-56D2-2BAC-AC6AABBC7E78}"/>
              </a:ext>
            </a:extLst>
          </p:cNvPr>
          <p:cNvSpPr/>
          <p:nvPr/>
        </p:nvSpPr>
        <p:spPr>
          <a:xfrm>
            <a:off x="6634690" y="2283868"/>
            <a:ext cx="4956753" cy="3423913"/>
          </a:xfrm>
          <a:prstGeom prst="roundRect">
            <a:avLst>
              <a:gd name="adj" fmla="val 6425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Find in the </a:t>
            </a:r>
            <a:r>
              <a:rPr lang="en-US" sz="1400" noProof="0" dirty="0">
                <a:solidFill>
                  <a:srgbClr val="000000"/>
                </a:solidFill>
                <a:latin typeface="Segoe UI Semibold"/>
                <a:cs typeface="Segoe UI" panose="020B0502040204020203" pitchFamily="34" charset="0"/>
              </a:rPr>
              <a:t>credential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 page resources 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to help prepare: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Watch exam prep videos</a:t>
            </a: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Review the exam study guide</a:t>
            </a: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Demo the exam experience with the exam sandbox</a:t>
            </a: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Take a practice assessment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7235727-61F5-8644-12E4-A21BDD9B7C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789300" y="1737603"/>
            <a:ext cx="1110600" cy="1110600"/>
            <a:chOff x="9378893" y="2116300"/>
            <a:chExt cx="1110600" cy="111060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3A57567-90BB-A9FB-D6B3-9AF8647B1FF4}"/>
                </a:ext>
              </a:extLst>
            </p:cNvPr>
            <p:cNvSpPr/>
            <p:nvPr/>
          </p:nvSpPr>
          <p:spPr>
            <a:xfrm>
              <a:off x="9378893" y="211630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22" name="Picture 21" descr="Icon&#10;&#10;Description automatically generated">
              <a:extLst>
                <a:ext uri="{FF2B5EF4-FFF2-40B4-BE49-F238E27FC236}">
                  <a16:creationId xmlns:a16="http://schemas.microsoft.com/office/drawing/2014/main" id="{AFDA5BB2-FEEB-060D-2DAB-61E228CA51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87795" y="2325202"/>
              <a:ext cx="692796" cy="692796"/>
            </a:xfrm>
            <a:prstGeom prst="rect">
              <a:avLst/>
            </a:prstGeom>
            <a:noFill/>
          </p:spPr>
        </p:pic>
      </p:grp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D84B1C3C-263F-04A9-DF9B-1C9B8DA93F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 defTabSz="914367">
              <a:defRPr/>
            </a:pPr>
            <a:r>
              <a:rPr lang="en-US" noProof="0" dirty="0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9699699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2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LIGHT MODE">
  <a:themeElements>
    <a:clrScheme name="BAR Light">
      <a:dk1>
        <a:srgbClr val="000000"/>
      </a:dk1>
      <a:lt1>
        <a:srgbClr val="FFFFFF"/>
      </a:lt1>
      <a:dk2>
        <a:srgbClr val="091F2E"/>
      </a:dk2>
      <a:lt2>
        <a:srgbClr val="FFF8F3"/>
      </a:lt2>
      <a:accent1>
        <a:srgbClr val="702573"/>
      </a:accent1>
      <a:accent2>
        <a:srgbClr val="BF3AC4"/>
      </a:accent2>
      <a:accent3>
        <a:srgbClr val="FE5B38"/>
      </a:accent3>
      <a:accent4>
        <a:srgbClr val="D59DD7"/>
      </a:accent4>
      <a:accent5>
        <a:srgbClr val="FEE298"/>
      </a:accent5>
      <a:accent6>
        <a:srgbClr val="D7D2CA"/>
      </a:accent6>
      <a:hlink>
        <a:srgbClr val="0077D3"/>
      </a:hlink>
      <a:folHlink>
        <a:srgbClr val="0077D3"/>
      </a:folHlink>
    </a:clrScheme>
    <a:fontScheme name="Custom 3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600" dirty="0" smtClean="0"/>
        </a:defPPr>
      </a:lstStyle>
    </a:txDef>
  </a:objectDefaults>
  <a:extraClrSchemeLst/>
  <a:custClrLst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Light Brown">
      <a:srgbClr val="E1D3C7"/>
    </a:custClr>
    <a:custClr name="Brown">
      <a:srgbClr val="BF9474"/>
    </a:custClr>
    <a:custClr name="Dark Brown">
      <a:srgbClr val="5C4738"/>
    </a:custClr>
    <a:custClr name="Light Yellow">
      <a:srgbClr val="FFE399"/>
    </a:custClr>
    <a:custClr name="Yellow">
      <a:srgbClr val="FFB900"/>
    </a:custClr>
    <a:custClr name="Dark Yellow">
      <a:srgbClr val="7F5A1A"/>
    </a:custClr>
    <a:custClr name="Light Orange">
      <a:srgbClr val="FFA38B"/>
    </a:custClr>
    <a:custClr name="Orange">
      <a:srgbClr val="FF5C39"/>
    </a:custClr>
    <a:custClr name="Dark Orange">
      <a:srgbClr val="73391D"/>
    </a:custClr>
    <a:custClr name="Light Red">
      <a:srgbClr val="FFB3BB"/>
    </a:custClr>
    <a:custClr name="Red">
      <a:srgbClr val="F4364C"/>
    </a:custClr>
    <a:custClr name="Dark Red">
      <a:srgbClr val="73262F"/>
    </a:custClr>
    <a:custClr name="Light Magenta">
      <a:srgbClr val="D59ED7"/>
    </a:custClr>
    <a:custClr name="Magenta">
      <a:srgbClr val="C03BC4"/>
    </a:custClr>
    <a:custClr name="Dark Magenta">
      <a:srgbClr val="702573"/>
    </a:custClr>
    <a:custClr name="Light Purple">
      <a:srgbClr val="C5B4E3"/>
    </a:custClr>
    <a:custClr name="Purple">
      <a:srgbClr val="8661C5"/>
    </a:custClr>
    <a:custClr name="Dark Purple">
      <a:srgbClr val="463668"/>
    </a:custClr>
    <a:custClr name="Light Blue">
      <a:srgbClr val="8DC8E8"/>
    </a:custClr>
    <a:custClr name="Blue">
      <a:srgbClr val="0078D4"/>
    </a:custClr>
    <a:custClr name="Dark Blue">
      <a:srgbClr val="2A446F"/>
    </a:custClr>
    <a:custClr name="Light Teal">
      <a:srgbClr val="B9DCD2"/>
    </a:custClr>
    <a:custClr name="Teal">
      <a:srgbClr val="49C5B1"/>
    </a:custClr>
    <a:custClr name="Dark Teal">
      <a:srgbClr val="225B62"/>
    </a:custClr>
    <a:custClr name="Light Green">
      <a:srgbClr val="D4EC8E"/>
    </a:custClr>
    <a:custClr name="Green">
      <a:srgbClr val="8DE971"/>
    </a:custClr>
    <a:custClr name="Dark Green">
      <a:srgbClr val="07641D"/>
    </a:custClr>
    <a:custClr name="Blue Black">
      <a:srgbClr val="091F2C"/>
    </a:custClr>
    <a:custClr name="Pure Black">
      <a:srgbClr val="000000"/>
    </a:custClr>
    <a:custClr name="Brown Black">
      <a:srgbClr val="291817"/>
    </a:custClr>
  </a:custClrLst>
  <a:extLst>
    <a:ext uri="{05A4C25C-085E-4340-85A3-A5531E510DB2}">
      <thm15:themeFamily xmlns:thm15="http://schemas.microsoft.com/office/thememl/2012/main" name="ILT_Course_Trainer-Template_063023_Final" id="{53CE3B9D-47D1-490F-99CD-422B5AEB3016}" vid="{B2DBE1BE-CBAC-4342-9A93-0CBD83F7518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0248D7AF17F84681BA835FA5F94E40" ma:contentTypeVersion="20" ma:contentTypeDescription="Create a new document." ma:contentTypeScope="" ma:versionID="433c462afd5f8213fc0755e5459980e0">
  <xsd:schema xmlns:xsd="http://www.w3.org/2001/XMLSchema" xmlns:xs="http://www.w3.org/2001/XMLSchema" xmlns:p="http://schemas.microsoft.com/office/2006/metadata/properties" xmlns:ns1="http://schemas.microsoft.com/sharepoint/v3" xmlns:ns2="b45d7b5d-5391-45bc-9089-ccc83e65635d" xmlns:ns3="7f056c50-df01-42ef-9e72-94b7d56ea6ea" targetNamespace="http://schemas.microsoft.com/office/2006/metadata/properties" ma:root="true" ma:fieldsID="371b9982654df4fdd7f3a4c948b61ec1" ns1:_="" ns2:_="" ns3:_="">
    <xsd:import namespace="http://schemas.microsoft.com/sharepoint/v3"/>
    <xsd:import namespace="b45d7b5d-5391-45bc-9089-ccc83e65635d"/>
    <xsd:import namespace="7f056c50-df01-42ef-9e72-94b7d56ea6e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  <xsd:element ref="ns2:Classification" minOccurs="0"/>
                <xsd:element ref="ns2:SecurityLevel" minOccurs="0"/>
                <xsd:element ref="ns2:ApprovalRequired" minOccurs="0"/>
                <xsd:element ref="ns2:IntelligenceOper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5d7b5d-5391-45bc-9089-ccc83e6563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  <xsd:element name="Classification" ma:index="24" nillable="true" ma:displayName="Classification" ma:format="Dropdown" ma:internalName="Classification">
      <xsd:simpleType>
        <xsd:restriction base="dms:Choice">
          <xsd:enumeration value="PUBLIC"/>
          <xsd:enumeration value="INTERNAL"/>
          <xsd:enumeration value="CLASSIFIED"/>
        </xsd:restriction>
      </xsd:simpleType>
    </xsd:element>
    <xsd:element name="SecurityLevel" ma:index="25" nillable="true" ma:displayName="SecurityLevel" ma:format="Dropdown" ma:internalName="SecurityLevel">
      <xsd:simpleType>
        <xsd:restriction base="dms:Choice">
          <xsd:enumeration value="NONE"/>
          <xsd:enumeration value="ALPHA"/>
          <xsd:enumeration value="BETA"/>
          <xsd:enumeration value="GAMMA"/>
        </xsd:restriction>
      </xsd:simpleType>
    </xsd:element>
    <xsd:element name="ApprovalRequired" ma:index="26" nillable="true" ma:displayName="ApprovalRequired" ma:default="1" ma:format="Dropdown" ma:internalName="ApprovalRequired">
      <xsd:simpleType>
        <xsd:restriction base="dms:Boolean"/>
      </xsd:simpleType>
    </xsd:element>
    <xsd:element name="IntelligenceOperation" ma:index="27" nillable="true" ma:displayName="IntelligenceOperation" ma:format="Dropdown" ma:internalName="IntelligenceOperation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056c50-df01-42ef-9e72-94b7d56ea6ea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d2e2aa58-280f-4967-8611-313d3ea79993}" ma:internalName="TaxCatchAll" ma:showField="CatchAllData" ma:web="7f056c50-df01-42ef-9e72-94b7d56ea6e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7f056c50-df01-42ef-9e72-94b7d56ea6ea" xsi:nil="true"/>
    <lcf76f155ced4ddcb4097134ff3c332f xmlns="b45d7b5d-5391-45bc-9089-ccc83e65635d">
      <Terms xmlns="http://schemas.microsoft.com/office/infopath/2007/PartnerControls"/>
    </lcf76f155ced4ddcb4097134ff3c332f>
    <SecurityLevel xmlns="b45d7b5d-5391-45bc-9089-ccc83e65635d" xsi:nil="true"/>
    <Classification xmlns="b45d7b5d-5391-45bc-9089-ccc83e65635d" xsi:nil="true"/>
    <IntelligenceOperation xmlns="b45d7b5d-5391-45bc-9089-ccc83e65635d" xsi:nil="true"/>
    <ApprovalRequired xmlns="b45d7b5d-5391-45bc-9089-ccc83e65635d">true</ApprovalRequired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F22DBFC-2038-433C-8AA0-959BCE417C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45d7b5d-5391-45bc-9089-ccc83e65635d"/>
    <ds:schemaRef ds:uri="7f056c50-df01-42ef-9e72-94b7d56ea6e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990F116-B58F-4255-B05B-DA3808E0E5C6}">
  <ds:schemaRefs>
    <ds:schemaRef ds:uri="http://purl.org/dc/elements/1.1/"/>
    <ds:schemaRef ds:uri="b45d7b5d-5391-45bc-9089-ccc83e65635d"/>
    <ds:schemaRef ds:uri="http://schemas.microsoft.com/sharepoint/v3"/>
    <ds:schemaRef ds:uri="http://schemas.microsoft.com/office/infopath/2007/PartnerControls"/>
    <ds:schemaRef ds:uri="7f056c50-df01-42ef-9e72-94b7d56ea6ea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650</TotalTime>
  <Words>1039</Words>
  <Application>Microsoft Office PowerPoint</Application>
  <PresentationFormat>Widescreen</PresentationFormat>
  <Paragraphs>136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Consolas</vt:lpstr>
      <vt:lpstr>Segoe UI</vt:lpstr>
      <vt:lpstr>Segoe UI Light</vt:lpstr>
      <vt:lpstr>Segoe UI Semibold</vt:lpstr>
      <vt:lpstr>Wingdings</vt:lpstr>
      <vt:lpstr>LIGHT MODE</vt:lpstr>
      <vt:lpstr>DP-800: Develop  AI-enabled database solutions</vt:lpstr>
      <vt:lpstr>Hello!</vt:lpstr>
      <vt:lpstr>Let’s get to know  each other</vt:lpstr>
      <vt:lpstr>Let’s have a great time together</vt:lpstr>
      <vt:lpstr>About this course</vt:lpstr>
      <vt:lpstr>Course schedule</vt:lpstr>
      <vt:lpstr>Get the most out of your Microsoft Learn profile</vt:lpstr>
      <vt:lpstr>Access your course material</vt:lpstr>
      <vt:lpstr>Become  Microsoft Certified</vt:lpstr>
      <vt:lpstr>Get ready for your Microsoft Credential </vt:lpstr>
    </vt:vector>
  </TitlesOfParts>
  <Manager>&lt;Comms manager name here&gt;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Learn ILT course  master template</dc:title>
  <dc:subject>&lt;Event name&gt;</dc:subject>
  <dc:creator>heidi@mindseyepdx.com</dc:creator>
  <cp:keywords/>
  <dc:description/>
  <cp:lastModifiedBy>Carlos Lopez</cp:lastModifiedBy>
  <cp:revision>32</cp:revision>
  <dcterms:created xsi:type="dcterms:W3CDTF">2023-06-16T20:38:16Z</dcterms:created>
  <dcterms:modified xsi:type="dcterms:W3CDTF">2026-03-13T10:31:49Z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0x010100350248D7AF17F84681BA835FA5F94E40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MSIP_Label_f42aa342-8706-4288-bd11-ebb85995028c_Enabled">
    <vt:lpwstr>True</vt:lpwstr>
  </property>
  <property fmtid="{D5CDD505-2E9C-101B-9397-08002B2CF9AE}" pid="12" name="MSIP_Label_f42aa342-8706-4288-bd11-ebb85995028c_SiteId">
    <vt:lpwstr>72f988bf-86f1-41af-91ab-2d7cd011db47</vt:lpwstr>
  </property>
  <property fmtid="{D5CDD505-2E9C-101B-9397-08002B2CF9AE}" pid="13" name="MSIP_Label_f42aa342-8706-4288-bd11-ebb85995028c_Ref">
    <vt:lpwstr>https://api.informationprotection.azure.com/api/72f988bf-86f1-41af-91ab-2d7cd011db47</vt:lpwstr>
  </property>
  <property fmtid="{D5CDD505-2E9C-101B-9397-08002B2CF9AE}" pid="14" name="MSIP_Label_f42aa342-8706-4288-bd11-ebb85995028c_Owner">
    <vt:lpwstr>maryfj@microsoft.com</vt:lpwstr>
  </property>
  <property fmtid="{D5CDD505-2E9C-101B-9397-08002B2CF9AE}" pid="15" name="MSIP_Label_f42aa342-8706-4288-bd11-ebb85995028c_SetDate">
    <vt:lpwstr>2017-08-29T14:27:20.8568347-07:00</vt:lpwstr>
  </property>
  <property fmtid="{D5CDD505-2E9C-101B-9397-08002B2CF9AE}" pid="16" name="MSIP_Label_f42aa342-8706-4288-bd11-ebb85995028c_Name">
    <vt:lpwstr>General</vt:lpwstr>
  </property>
  <property fmtid="{D5CDD505-2E9C-101B-9397-08002B2CF9AE}" pid="17" name="MSIP_Label_f42aa342-8706-4288-bd11-ebb85995028c_Application">
    <vt:lpwstr>Microsoft Azure Information Protection</vt:lpwstr>
  </property>
  <property fmtid="{D5CDD505-2E9C-101B-9397-08002B2CF9AE}" pid="18" name="MSIP_Label_f42aa342-8706-4288-bd11-ebb85995028c_Extended_MSFT_Method">
    <vt:lpwstr>Automatic</vt:lpwstr>
  </property>
  <property fmtid="{D5CDD505-2E9C-101B-9397-08002B2CF9AE}" pid="19" name="Sensitivity">
    <vt:lpwstr>General</vt:lpwstr>
  </property>
  <property fmtid="{D5CDD505-2E9C-101B-9397-08002B2CF9AE}" pid="20" name="MediaServiceImageTags">
    <vt:lpwstr/>
  </property>
  <property fmtid="{D5CDD505-2E9C-101B-9397-08002B2CF9AE}" pid="21" name="ArticulateGUID">
    <vt:lpwstr>724E7821-5458-49B7-A2E1-694F66B14BA3</vt:lpwstr>
  </property>
  <property fmtid="{D5CDD505-2E9C-101B-9397-08002B2CF9AE}" pid="22" name="ArticulatePath">
    <vt:lpwstr>ILT-Introduction-Template-edit-JB</vt:lpwstr>
  </property>
  <property fmtid="{D5CDD505-2E9C-101B-9397-08002B2CF9AE}" pid="23" name="Order">
    <vt:r8>61700</vt:r8>
  </property>
  <property fmtid="{D5CDD505-2E9C-101B-9397-08002B2CF9AE}" pid="24" name="xd_ProgID">
    <vt:lpwstr/>
  </property>
  <property fmtid="{D5CDD505-2E9C-101B-9397-08002B2CF9AE}" pid="25" name="ComplianceAssetId">
    <vt:lpwstr/>
  </property>
  <property fmtid="{D5CDD505-2E9C-101B-9397-08002B2CF9AE}" pid="26" name="TemplateUrl">
    <vt:lpwstr/>
  </property>
  <property fmtid="{D5CDD505-2E9C-101B-9397-08002B2CF9AE}" pid="27" name="_ExtendedDescription">
    <vt:lpwstr/>
  </property>
  <property fmtid="{D5CDD505-2E9C-101B-9397-08002B2CF9AE}" pid="28" name="TriggerFlowInfo">
    <vt:lpwstr/>
  </property>
  <property fmtid="{D5CDD505-2E9C-101B-9397-08002B2CF9AE}" pid="29" name="xd_Signature">
    <vt:bool>false</vt:bool>
  </property>
  <property fmtid="{D5CDD505-2E9C-101B-9397-08002B2CF9AE}" pid="30" name="SharedWithUsers">
    <vt:lpwstr>283;#Randy Stearman;#154;#Lara Sorgaard;#464;#Ashlee Lyman (ALLYIS INC);#623;#Ronald Cascante Salazar (ALLYIS INC);#145;#Hakim Martin;#28;#Bre'Ana Deen;#247;#Anika Shakir;#239;#Brian Moring;#31;#Tarek Saleh Eldin</vt:lpwstr>
  </property>
</Properties>
</file>